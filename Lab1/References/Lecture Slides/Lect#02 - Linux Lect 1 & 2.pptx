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  <p:sldId id="263" r:id="rId9"/>
    <p:sldId id="279" r:id="rId10"/>
    <p:sldId id="264" r:id="rId11"/>
    <p:sldId id="265" r:id="rId12"/>
    <p:sldId id="266" r:id="rId13"/>
    <p:sldId id="290" r:id="rId14"/>
    <p:sldId id="267" r:id="rId15"/>
    <p:sldId id="270" r:id="rId16"/>
    <p:sldId id="289" r:id="rId17"/>
    <p:sldId id="269" r:id="rId18"/>
    <p:sldId id="268" r:id="rId19"/>
    <p:sldId id="271" r:id="rId20"/>
    <p:sldId id="272" r:id="rId21"/>
    <p:sldId id="273" r:id="rId22"/>
    <p:sldId id="274" r:id="rId23"/>
    <p:sldId id="275" r:id="rId24"/>
    <p:sldId id="276" r:id="rId25"/>
    <p:sldId id="288" r:id="rId26"/>
    <p:sldId id="291" r:id="rId27"/>
    <p:sldId id="292" r:id="rId28"/>
    <p:sldId id="278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CBAC33-2F93-4116-A01C-DF181D699A11}" v="3" dt="2023-09-18T11:07:28.2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0462" autoAdjust="0"/>
  </p:normalViewPr>
  <p:slideViewPr>
    <p:cSldViewPr snapToGrid="0">
      <p:cViewPr varScale="1">
        <p:scale>
          <a:sx n="87" d="100"/>
          <a:sy n="87" d="100"/>
        </p:scale>
        <p:origin x="6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ommentAuthors" Target="commentAuthor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47" Type="http://schemas.openxmlformats.org/officeDocument/2006/relationships/customXml" Target="../customXml/item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45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46" Type="http://schemas.openxmlformats.org/officeDocument/2006/relationships/customXml" Target="../customXml/item2.xml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F5640F-335D-4C32-A577-12A484BEC3AA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26F48A-47A4-449A-9A30-AEF2DA5A42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897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refspecs.linuxfoundation.org/FHS_3.0/fhs-3.0.pdf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refspecs.linuxfoundation.org/FHS_3.0/fhs-3.0.pdf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more information, take a look at the following document: </a:t>
            </a:r>
            <a:r>
              <a:rPr lang="en-US" i="1" dirty="0"/>
              <a:t>"</a:t>
            </a:r>
            <a:r>
              <a:rPr lang="en-US" i="1" dirty="0" err="1">
                <a:hlinkClick r:id="rId3"/>
              </a:rPr>
              <a:t>Filesystem</a:t>
            </a:r>
            <a:r>
              <a:rPr lang="en-US" i="1" dirty="0">
                <a:hlinkClick r:id="rId3"/>
              </a:rPr>
              <a:t> Hierarchy Standard</a:t>
            </a:r>
            <a:r>
              <a:rPr lang="en-US" i="1" dirty="0"/>
              <a:t>"</a:t>
            </a:r>
            <a:r>
              <a:rPr lang="en-US" dirty="0"/>
              <a:t> created by LSB Workgroup.</a:t>
            </a:r>
          </a:p>
          <a:p>
            <a:r>
              <a:rPr lang="en-US" dirty="0"/>
              <a:t>https://refspecs.linuxfoundation.org/FHS_3.0/fhs-3.0.pdf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26F48A-47A4-449A-9A30-AEF2DA5A42B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7930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more information, take a look at the following document: </a:t>
            </a:r>
            <a:r>
              <a:rPr lang="en-US" i="1" dirty="0"/>
              <a:t>"</a:t>
            </a:r>
            <a:r>
              <a:rPr lang="en-US" i="1" dirty="0" err="1">
                <a:hlinkClick r:id="rId3"/>
              </a:rPr>
              <a:t>Filesystem</a:t>
            </a:r>
            <a:r>
              <a:rPr lang="en-US" i="1" dirty="0">
                <a:hlinkClick r:id="rId3"/>
              </a:rPr>
              <a:t> Hierarchy Standard</a:t>
            </a:r>
            <a:r>
              <a:rPr lang="en-US" i="1" dirty="0"/>
              <a:t>"</a:t>
            </a:r>
            <a:r>
              <a:rPr lang="en-US" dirty="0"/>
              <a:t> created by LSB Workgroup.</a:t>
            </a:r>
          </a:p>
          <a:p>
            <a:r>
              <a:rPr lang="en-US" dirty="0"/>
              <a:t>https://refspecs.linuxfoundation.org/FHS_3.0/fhs-3.0.pdf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26F48A-47A4-449A-9A30-AEF2DA5A42B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7941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ssh</a:t>
            </a:r>
            <a:r>
              <a:rPr lang="en-US" dirty="0"/>
              <a:t>-add ~/.</a:t>
            </a:r>
            <a:r>
              <a:rPr lang="en-US" dirty="0" err="1"/>
              <a:t>ssh</a:t>
            </a:r>
            <a:r>
              <a:rPr lang="en-US" dirty="0"/>
              <a:t>/</a:t>
            </a:r>
            <a:r>
              <a:rPr lang="en-US" dirty="0" err="1"/>
              <a:t>private_key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Disable root password login - </a:t>
            </a:r>
            <a:r>
              <a:rPr lang="en-US" dirty="0" err="1"/>
              <a:t>sudo</a:t>
            </a:r>
            <a:r>
              <a:rPr lang="en-US" dirty="0"/>
              <a:t> nano 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ssh</a:t>
            </a:r>
            <a:r>
              <a:rPr lang="en-US" dirty="0"/>
              <a:t>/</a:t>
            </a:r>
            <a:r>
              <a:rPr lang="en-US" dirty="0" err="1"/>
              <a:t>sshd_config</a:t>
            </a:r>
            <a:endParaRPr lang="en-US" dirty="0"/>
          </a:p>
          <a:p>
            <a:r>
              <a:rPr lang="en-US" dirty="0"/>
              <a:t>	</a:t>
            </a:r>
            <a:r>
              <a:rPr lang="en-US" dirty="0" err="1"/>
              <a:t>PermitRootLogin</a:t>
            </a:r>
            <a:r>
              <a:rPr lang="en-US" dirty="0"/>
              <a:t> no</a:t>
            </a:r>
          </a:p>
          <a:p>
            <a:r>
              <a:rPr lang="en-US" dirty="0"/>
              <a:t>	</a:t>
            </a:r>
            <a:r>
              <a:rPr lang="en-US" dirty="0" err="1"/>
              <a:t>PasswordAuthentication</a:t>
            </a:r>
            <a:r>
              <a:rPr lang="en-US" dirty="0"/>
              <a:t> no</a:t>
            </a:r>
          </a:p>
          <a:p>
            <a:endParaRPr lang="en-US" dirty="0"/>
          </a:p>
          <a:p>
            <a:r>
              <a:rPr lang="en-US" dirty="0"/>
              <a:t>Reload </a:t>
            </a:r>
            <a:r>
              <a:rPr lang="en-US" dirty="0" err="1"/>
              <a:t>sshd</a:t>
            </a:r>
            <a:r>
              <a:rPr lang="en-US" dirty="0"/>
              <a:t> service - </a:t>
            </a:r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systemctl</a:t>
            </a:r>
            <a:r>
              <a:rPr lang="en-US" dirty="0"/>
              <a:t> reload </a:t>
            </a:r>
            <a:r>
              <a:rPr lang="en-US" dirty="0" err="1"/>
              <a:t>sshd</a:t>
            </a:r>
            <a:endParaRPr lang="en-US" dirty="0"/>
          </a:p>
          <a:p>
            <a:endParaRPr lang="en-US" dirty="0"/>
          </a:p>
          <a:p>
            <a:r>
              <a:rPr lang="en-US" dirty="0"/>
              <a:t>eval `</a:t>
            </a:r>
            <a:r>
              <a:rPr lang="en-US" dirty="0" err="1"/>
              <a:t>ssh</a:t>
            </a:r>
            <a:r>
              <a:rPr lang="en-US" dirty="0"/>
              <a:t>-agent -s`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26F48A-47A4-449A-9A30-AEF2DA5A42B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9996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386D1-70AD-4473-8232-9AEC4CE6938E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260AC-9245-42A6-807F-2554F31CFB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082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386D1-70AD-4473-8232-9AEC4CE6938E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260AC-9245-42A6-807F-2554F31CFB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1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386D1-70AD-4473-8232-9AEC4CE6938E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260AC-9245-42A6-807F-2554F31CFB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9908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386D1-70AD-4473-8232-9AEC4CE6938E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260AC-9245-42A6-807F-2554F31CFB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692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386D1-70AD-4473-8232-9AEC4CE6938E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260AC-9245-42A6-807F-2554F31CFB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41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386D1-70AD-4473-8232-9AEC4CE6938E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260AC-9245-42A6-807F-2554F31CFB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3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386D1-70AD-4473-8232-9AEC4CE6938E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260AC-9245-42A6-807F-2554F31CFB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862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386D1-70AD-4473-8232-9AEC4CE6938E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260AC-9245-42A6-807F-2554F31CFB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102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386D1-70AD-4473-8232-9AEC4CE6938E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260AC-9245-42A6-807F-2554F31CFB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324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386D1-70AD-4473-8232-9AEC4CE6938E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260AC-9245-42A6-807F-2554F31CFB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226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386D1-70AD-4473-8232-9AEC4CE6938E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260AC-9245-42A6-807F-2554F31CFB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264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2386D1-70AD-4473-8232-9AEC4CE6938E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B260AC-9245-42A6-807F-2554F31CFB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260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ubuntu.com/server/docs/package-management" TargetMode="External"/><Relationship Id="rId2" Type="http://schemas.openxmlformats.org/officeDocument/2006/relationships/hyperlink" Target="https://manpages.ubuntu.com/manpages/bionic/en/man8/apt.8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j3fOfBwom5k&amp;ab_channel=AkamaiDeveloper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wiki.centos.org/Documentation" TargetMode="External"/><Relationship Id="rId2" Type="http://schemas.openxmlformats.org/officeDocument/2006/relationships/hyperlink" Target="https://help.ubuntu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cs.fedoraproject.org/" TargetMode="Externa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https://linuxize.com/post/basic-linux-commands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Linux</a:t>
            </a:r>
          </a:p>
        </p:txBody>
      </p:sp>
    </p:spTree>
    <p:extLst>
      <p:ext uri="{BB962C8B-B14F-4D97-AF65-F5344CB8AC3E}">
        <p14:creationId xmlns:p14="http://schemas.microsoft.com/office/powerpoint/2010/main" val="2108522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Linux Distributions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54096" y="1328951"/>
            <a:ext cx="8184863" cy="478191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482146" y="6646126"/>
            <a:ext cx="15723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Source</a:t>
            </a:r>
            <a:r>
              <a:rPr lang="en-US" sz="800" dirty="0"/>
              <a:t>: Linux foundation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" y="6389648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Distribution</a:t>
            </a:r>
            <a:r>
              <a:rPr lang="en-US" dirty="0"/>
              <a:t>: Collection of software making up a Linux-based distribution all licensed under open-source or GPL</a:t>
            </a:r>
          </a:p>
        </p:txBody>
      </p:sp>
    </p:spTree>
    <p:extLst>
      <p:ext uri="{BB962C8B-B14F-4D97-AF65-F5344CB8AC3E}">
        <p14:creationId xmlns:p14="http://schemas.microsoft.com/office/powerpoint/2010/main" val="3873472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Linux Distributions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82146" y="6646126"/>
            <a:ext cx="15723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Source</a:t>
            </a:r>
            <a:r>
              <a:rPr lang="en-US" sz="800" dirty="0"/>
              <a:t>: Linux foundation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Technical differences between distributions are mainly about </a:t>
            </a:r>
            <a:r>
              <a:rPr lang="en-US" b="1" i="1" dirty="0"/>
              <a:t>package</a:t>
            </a:r>
            <a:r>
              <a:rPr lang="en-US" i="1" dirty="0"/>
              <a:t> </a:t>
            </a:r>
            <a:r>
              <a:rPr lang="en-US" b="1" i="1" dirty="0"/>
              <a:t>management</a:t>
            </a:r>
            <a:r>
              <a:rPr lang="en-US" i="1" dirty="0"/>
              <a:t> </a:t>
            </a:r>
            <a:r>
              <a:rPr lang="en-US" b="1" i="1" dirty="0"/>
              <a:t>systems</a:t>
            </a:r>
            <a:r>
              <a:rPr lang="en-US" dirty="0"/>
              <a:t>, </a:t>
            </a:r>
            <a:r>
              <a:rPr lang="en-US" b="1" i="1" dirty="0"/>
              <a:t>software versions</a:t>
            </a:r>
            <a:r>
              <a:rPr lang="en-US" dirty="0"/>
              <a:t>, and </a:t>
            </a:r>
            <a:r>
              <a:rPr lang="en-US" b="1" i="1" dirty="0"/>
              <a:t>file locations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Once you get a </a:t>
            </a:r>
            <a:r>
              <a:rPr lang="en-US" b="1" dirty="0"/>
              <a:t>grasp</a:t>
            </a:r>
            <a:r>
              <a:rPr lang="en-US" dirty="0"/>
              <a:t> of those differences, it becomes relatively </a:t>
            </a:r>
            <a:r>
              <a:rPr lang="en-US" b="1" dirty="0"/>
              <a:t>painless</a:t>
            </a:r>
            <a:r>
              <a:rPr lang="en-US" dirty="0"/>
              <a:t> to switch from one Linux distribution to another.</a:t>
            </a:r>
          </a:p>
        </p:txBody>
      </p:sp>
    </p:spTree>
    <p:extLst>
      <p:ext uri="{BB962C8B-B14F-4D97-AF65-F5344CB8AC3E}">
        <p14:creationId xmlns:p14="http://schemas.microsoft.com/office/powerpoint/2010/main" val="12712219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6910" y="218369"/>
            <a:ext cx="10913533" cy="1283053"/>
          </a:xfrm>
        </p:spPr>
        <p:txBody>
          <a:bodyPr/>
          <a:lstStyle/>
          <a:p>
            <a:r>
              <a:rPr lang="en-US" b="1" dirty="0"/>
              <a:t>Questions to Ask When Choosing a Distribution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82146" y="6646126"/>
            <a:ext cx="15723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Source</a:t>
            </a:r>
            <a:r>
              <a:rPr lang="en-US" sz="800" dirty="0"/>
              <a:t>: Linux foundation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699044" cy="4710642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What is the main function of the system (server or desktop)?</a:t>
            </a:r>
          </a:p>
          <a:p>
            <a:endParaRPr lang="en-US" dirty="0"/>
          </a:p>
          <a:p>
            <a:r>
              <a:rPr lang="en-US" dirty="0"/>
              <a:t>What types of packages are important to the organization? For example, web server, word processing, etc.</a:t>
            </a:r>
          </a:p>
          <a:p>
            <a:endParaRPr lang="en-US" dirty="0"/>
          </a:p>
          <a:p>
            <a:r>
              <a:rPr lang="en-US" dirty="0"/>
              <a:t>How much hard disk space is required and how much is available? For example, when installing Linux on an embedded device, space is usually constrained.</a:t>
            </a:r>
          </a:p>
          <a:p>
            <a:endParaRPr lang="en-US" dirty="0"/>
          </a:p>
          <a:p>
            <a:r>
              <a:rPr lang="en-US" dirty="0"/>
              <a:t>How often are packages updated?</a:t>
            </a:r>
          </a:p>
          <a:p>
            <a:endParaRPr lang="en-US" dirty="0"/>
          </a:p>
          <a:p>
            <a:r>
              <a:rPr lang="en-US" dirty="0"/>
              <a:t>How long is the support cycle for each release? For example, LTS releases have long-term support.</a:t>
            </a:r>
          </a:p>
          <a:p>
            <a:endParaRPr lang="en-US" dirty="0"/>
          </a:p>
          <a:p>
            <a:r>
              <a:rPr lang="en-US" dirty="0"/>
              <a:t>Do you need kernel customization from the vendor or a third party?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Do you need long-term stability? Can you accept (or need) a more volatile cutting edge system running the latest software?</a:t>
            </a:r>
          </a:p>
        </p:txBody>
      </p:sp>
    </p:spTree>
    <p:extLst>
      <p:ext uri="{BB962C8B-B14F-4D97-AF65-F5344CB8AC3E}">
        <p14:creationId xmlns:p14="http://schemas.microsoft.com/office/powerpoint/2010/main" val="1853347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Linux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Is everywhere</a:t>
            </a:r>
          </a:p>
          <a:p>
            <a:endParaRPr lang="en-US" dirty="0"/>
          </a:p>
          <a:p>
            <a:r>
              <a:rPr lang="en-US" dirty="0"/>
              <a:t>Open source</a:t>
            </a:r>
          </a:p>
          <a:p>
            <a:endParaRPr lang="en-US" dirty="0"/>
          </a:p>
          <a:p>
            <a:r>
              <a:rPr lang="en-US" dirty="0"/>
              <a:t>Community support</a:t>
            </a:r>
          </a:p>
          <a:p>
            <a:endParaRPr lang="en-US" dirty="0"/>
          </a:p>
          <a:p>
            <a:r>
              <a:rPr lang="en-US" dirty="0"/>
              <a:t>Basics of DevOps</a:t>
            </a:r>
          </a:p>
          <a:p>
            <a:endParaRPr lang="en-US" dirty="0"/>
          </a:p>
          <a:p>
            <a:r>
              <a:rPr lang="en-US" dirty="0"/>
              <a:t>90% of all cloud infrastructure is powered by </a:t>
            </a:r>
            <a:r>
              <a:rPr lang="en-US" dirty="0" err="1"/>
              <a:t>linux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642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444" y="45156"/>
            <a:ext cx="10515600" cy="780585"/>
          </a:xfrm>
        </p:spPr>
        <p:txBody>
          <a:bodyPr/>
          <a:lstStyle/>
          <a:p>
            <a:r>
              <a:rPr lang="en-US" b="1" dirty="0"/>
              <a:t>Linux File System Hierarchy Standard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830562" y="1240278"/>
            <a:ext cx="9149373" cy="4550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1050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444" y="0"/>
            <a:ext cx="10515600" cy="780585"/>
          </a:xfrm>
        </p:spPr>
        <p:txBody>
          <a:bodyPr/>
          <a:lstStyle/>
          <a:p>
            <a:r>
              <a:rPr lang="en-US" b="1" dirty="0"/>
              <a:t>Linux File System Hierarchy Standard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82146" y="6646126"/>
            <a:ext cx="15723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Source</a:t>
            </a:r>
            <a:r>
              <a:rPr lang="en-US" sz="800" dirty="0"/>
              <a:t>: Linux foundation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352098" y="911225"/>
            <a:ext cx="7451904" cy="5868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0865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Linux </a:t>
            </a:r>
            <a:r>
              <a:rPr lang="en-US" b="1" dirty="0" err="1"/>
              <a:t>Disto</a:t>
            </a:r>
            <a:r>
              <a:rPr lang="en-US" b="1" dirty="0"/>
              <a:t>. Packages &amp; Managers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1026422" cy="431553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Most common types of packages are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.deb files</a:t>
            </a:r>
          </a:p>
          <a:p>
            <a:pPr marL="457200" lvl="1" indent="0">
              <a:buNone/>
            </a:pPr>
            <a:r>
              <a:rPr lang="en-US" dirty="0"/>
              <a:t>Debian packages, used by </a:t>
            </a:r>
            <a:r>
              <a:rPr lang="en-US" b="1" dirty="0"/>
              <a:t>Debian</a:t>
            </a:r>
            <a:r>
              <a:rPr lang="en-US" dirty="0"/>
              <a:t>, </a:t>
            </a:r>
            <a:r>
              <a:rPr lang="en-US" b="1" dirty="0"/>
              <a:t>Ubuntu</a:t>
            </a:r>
            <a:r>
              <a:rPr lang="en-US" dirty="0"/>
              <a:t>, and other distros.</a:t>
            </a:r>
          </a:p>
          <a:p>
            <a:pPr marL="457200" lvl="1" indent="0">
              <a:buNone/>
            </a:pPr>
            <a:r>
              <a:rPr lang="en-US" dirty="0"/>
              <a:t>Installed by the </a:t>
            </a:r>
            <a:r>
              <a:rPr lang="en-US" b="1" dirty="0"/>
              <a:t>aptitude</a:t>
            </a:r>
            <a:r>
              <a:rPr lang="en-US" dirty="0"/>
              <a:t>, </a:t>
            </a:r>
            <a:r>
              <a:rPr lang="en-US" b="1" dirty="0"/>
              <a:t>apt-get</a:t>
            </a:r>
            <a:r>
              <a:rPr lang="en-US" dirty="0"/>
              <a:t>, and </a:t>
            </a:r>
            <a:r>
              <a:rPr lang="en-US" b="1" dirty="0" err="1"/>
              <a:t>dpkg</a:t>
            </a:r>
            <a:r>
              <a:rPr lang="en-US" dirty="0"/>
              <a:t> package manager commands</a:t>
            </a:r>
            <a:endParaRPr lang="en-US" b="1" dirty="0"/>
          </a:p>
          <a:p>
            <a:pPr marL="457200" lvl="1" indent="0">
              <a:buNone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.rpm files</a:t>
            </a:r>
          </a:p>
          <a:p>
            <a:pPr marL="457200" lvl="1" indent="0">
              <a:buNone/>
            </a:pPr>
            <a:r>
              <a:rPr lang="en-US" dirty="0"/>
              <a:t>RPM Packages are used by </a:t>
            </a:r>
            <a:r>
              <a:rPr lang="en-US" b="1" dirty="0"/>
              <a:t>Red Hat</a:t>
            </a:r>
            <a:r>
              <a:rPr lang="en-US" dirty="0"/>
              <a:t>, </a:t>
            </a:r>
            <a:r>
              <a:rPr lang="en-US" b="1" dirty="0" err="1"/>
              <a:t>Fedora</a:t>
            </a:r>
            <a:r>
              <a:rPr lang="en-US" dirty="0" err="1"/>
              <a:t>,</a:t>
            </a:r>
            <a:r>
              <a:rPr lang="en-US" b="1" dirty="0" err="1"/>
              <a:t>CentOS</a:t>
            </a:r>
            <a:r>
              <a:rPr lang="en-US" dirty="0"/>
              <a:t>, and other distros.</a:t>
            </a:r>
          </a:p>
          <a:p>
            <a:pPr marL="457200" lvl="1" indent="0">
              <a:buNone/>
            </a:pPr>
            <a:r>
              <a:rPr lang="en-US" dirty="0"/>
              <a:t>Installed by the </a:t>
            </a:r>
            <a:r>
              <a:rPr lang="en-US" b="1" dirty="0" err="1"/>
              <a:t>dnf</a:t>
            </a:r>
            <a:r>
              <a:rPr lang="en-US" dirty="0"/>
              <a:t>, </a:t>
            </a:r>
            <a:r>
              <a:rPr lang="en-US" b="1" dirty="0"/>
              <a:t>yum</a:t>
            </a:r>
            <a:r>
              <a:rPr lang="en-US" dirty="0"/>
              <a:t>, and </a:t>
            </a:r>
            <a:r>
              <a:rPr lang="en-US" b="1" dirty="0"/>
              <a:t>rpm </a:t>
            </a:r>
            <a:r>
              <a:rPr lang="en-US" dirty="0"/>
              <a:t>package manager commands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8889044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0741"/>
            <a:ext cx="10515600" cy="1325563"/>
          </a:xfrm>
        </p:spPr>
        <p:txBody>
          <a:bodyPr/>
          <a:lstStyle/>
          <a:p>
            <a:r>
              <a:rPr lang="en-US" b="1" dirty="0"/>
              <a:t>Linux </a:t>
            </a:r>
            <a:r>
              <a:rPr lang="en-US" b="1" dirty="0" err="1"/>
              <a:t>Disto</a:t>
            </a:r>
            <a:r>
              <a:rPr lang="en-US" b="1" dirty="0"/>
              <a:t>. Packages &amp; Managers – Examples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60138"/>
            <a:ext cx="11145254" cy="541738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b="1" dirty="0"/>
              <a:t>Debian package manager</a:t>
            </a:r>
          </a:p>
          <a:p>
            <a:pPr marL="457200" lvl="1" indent="0">
              <a:buNone/>
            </a:pPr>
            <a:r>
              <a:rPr lang="en-US" dirty="0"/>
              <a:t>Update the package index.</a:t>
            </a:r>
          </a:p>
          <a:p>
            <a:pPr marL="457200" lvl="1" indent="0">
              <a:buNone/>
            </a:pPr>
            <a:r>
              <a:rPr lang="en-US" dirty="0"/>
              <a:t>Installed by the </a:t>
            </a:r>
            <a:r>
              <a:rPr lang="en-US" b="1" dirty="0"/>
              <a:t>aptitude</a:t>
            </a:r>
            <a:r>
              <a:rPr lang="en-US" dirty="0"/>
              <a:t>, </a:t>
            </a:r>
            <a:r>
              <a:rPr lang="en-US" b="1" dirty="0"/>
              <a:t>apt-get</a:t>
            </a:r>
            <a:r>
              <a:rPr lang="en-US" dirty="0"/>
              <a:t>, and </a:t>
            </a:r>
            <a:r>
              <a:rPr lang="en-US" b="1" dirty="0" err="1"/>
              <a:t>dpkg</a:t>
            </a:r>
            <a:r>
              <a:rPr lang="en-US" dirty="0"/>
              <a:t> package manager commands</a:t>
            </a:r>
          </a:p>
          <a:p>
            <a:pPr marL="457200" lvl="1" indent="0">
              <a:buNone/>
            </a:pPr>
            <a:endParaRPr lang="en-US" b="1" dirty="0"/>
          </a:p>
          <a:p>
            <a:pPr marL="457200" lvl="1" indent="0">
              <a:buNone/>
            </a:pPr>
            <a:endParaRPr lang="en-US" b="1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For more details, please follow the </a:t>
            </a:r>
            <a:r>
              <a:rPr lang="en-US" dirty="0">
                <a:hlinkClick r:id="rId2"/>
              </a:rPr>
              <a:t>apt</a:t>
            </a:r>
            <a:r>
              <a:rPr lang="en-US" dirty="0"/>
              <a:t> </a:t>
            </a:r>
            <a:r>
              <a:rPr lang="en-US" dirty="0">
                <a:hlinkClick r:id="rId3"/>
              </a:rPr>
              <a:t>documentation</a:t>
            </a:r>
            <a:r>
              <a:rPr lang="en-US" dirty="0"/>
              <a:t> and a </a:t>
            </a:r>
            <a:r>
              <a:rPr lang="en-US" dirty="0">
                <a:hlinkClick r:id="rId4"/>
              </a:rPr>
              <a:t>short tutorial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78EC232-9F53-7025-9CB6-174E6C1079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822879"/>
              </p:ext>
            </p:extLst>
          </p:nvPr>
        </p:nvGraphicFramePr>
        <p:xfrm>
          <a:off x="1496671" y="2652895"/>
          <a:ext cx="9464098" cy="3128690"/>
        </p:xfrm>
        <a:graphic>
          <a:graphicData uri="http://schemas.openxmlformats.org/drawingml/2006/table">
            <a:tbl>
              <a:tblPr/>
              <a:tblGrid>
                <a:gridCol w="2786572">
                  <a:extLst>
                    <a:ext uri="{9D8B030D-6E8A-4147-A177-3AD203B41FA5}">
                      <a16:colId xmlns:a16="http://schemas.microsoft.com/office/drawing/2014/main" val="476913190"/>
                    </a:ext>
                  </a:extLst>
                </a:gridCol>
                <a:gridCol w="6677526">
                  <a:extLst>
                    <a:ext uri="{9D8B030D-6E8A-4147-A177-3AD203B41FA5}">
                      <a16:colId xmlns:a16="http://schemas.microsoft.com/office/drawing/2014/main" val="3272787889"/>
                    </a:ext>
                  </a:extLst>
                </a:gridCol>
              </a:tblGrid>
              <a:tr h="67006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apt update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Update the package index. This index is a local database of available repositories. See /</a:t>
                      </a:r>
                      <a:r>
                        <a:rPr lang="en-US" dirty="0" err="1"/>
                        <a:t>etc</a:t>
                      </a:r>
                      <a:r>
                        <a:rPr lang="en-US" dirty="0"/>
                        <a:t>/apt/</a:t>
                      </a:r>
                      <a:r>
                        <a:rPr lang="en-US" dirty="0" err="1"/>
                        <a:t>sources.list</a:t>
                      </a:r>
                      <a:r>
                        <a:rPr lang="en-US" dirty="0"/>
                        <a:t> etc.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6577596"/>
                  </a:ext>
                </a:extLst>
              </a:tr>
              <a:tr h="41886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apt upgrade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ym typeface="Wingdings" panose="05000000000000000000" pitchFamily="2" charset="2"/>
                        </a:rPr>
                        <a:t>Upgrade version of packages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4540444"/>
                  </a:ext>
                </a:extLst>
              </a:tr>
              <a:tr h="40795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apt install 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pkg_name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ym typeface="Wingdings" panose="05000000000000000000" pitchFamily="2" charset="2"/>
                        </a:rPr>
                        <a:t>Installing package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4983428"/>
                  </a:ext>
                </a:extLst>
              </a:tr>
              <a:tr h="40795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apt remove 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</a:rPr>
                        <a:t>pkg_name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Removing </a:t>
                      </a:r>
                      <a:r>
                        <a:rPr lang="en-US" dirty="0" err="1"/>
                        <a:t>pakcage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8258385"/>
                  </a:ext>
                </a:extLst>
              </a:tr>
              <a:tr h="40795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apt search 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</a:rPr>
                        <a:t>pkg_name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Searching for a particular package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8354851"/>
                  </a:ext>
                </a:extLst>
              </a:tr>
              <a:tr h="40795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apt show 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</a:rPr>
                        <a:t>pkg_name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Show the detail of the package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8045845"/>
                  </a:ext>
                </a:extLst>
              </a:tr>
              <a:tr h="40795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apt list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List all the packages that can be installed, try using --installed option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33547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0028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Command Line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1026422" cy="431553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You can implement scripts for often-used (or easy-to-forget) tasks and series of procedures.</a:t>
            </a:r>
          </a:p>
          <a:p>
            <a:endParaRPr lang="en-US" dirty="0"/>
          </a:p>
          <a:p>
            <a:r>
              <a:rPr lang="en-US" dirty="0"/>
              <a:t>You can </a:t>
            </a:r>
            <a:r>
              <a:rPr lang="en-US" b="1" dirty="0"/>
              <a:t>sign into remote</a:t>
            </a:r>
            <a:r>
              <a:rPr lang="en-US" dirty="0"/>
              <a:t> machines anywhere on the Internet.</a:t>
            </a:r>
          </a:p>
          <a:p>
            <a:endParaRPr lang="en-US" dirty="0"/>
          </a:p>
          <a:p>
            <a:r>
              <a:rPr lang="en-US" dirty="0"/>
              <a:t>You can </a:t>
            </a:r>
            <a:r>
              <a:rPr lang="en-US" b="1" dirty="0"/>
              <a:t>initiate graphical applications</a:t>
            </a:r>
            <a:r>
              <a:rPr lang="en-US" dirty="0"/>
              <a:t> directly from the command line instead of hunting through menus.</a:t>
            </a:r>
          </a:p>
          <a:p>
            <a:endParaRPr lang="en-US" dirty="0"/>
          </a:p>
          <a:p>
            <a:r>
              <a:rPr lang="en-US" dirty="0"/>
              <a:t>While graphical tools may vary among Linux distributions, the command line interface does not.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37419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675F6-2948-0C94-5C91-A16D3044C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2547"/>
            <a:ext cx="10515600" cy="1325563"/>
          </a:xfrm>
        </p:spPr>
        <p:txBody>
          <a:bodyPr/>
          <a:lstStyle/>
          <a:p>
            <a:r>
              <a:rPr lang="en-US" b="1" dirty="0"/>
              <a:t>Some Basic Utilities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BD0B53B-CA2B-E944-C619-6BBEBC4534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0281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675F6-2948-0C94-5C91-A16D3044C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9345"/>
            <a:ext cx="10515600" cy="1325563"/>
          </a:xfrm>
        </p:spPr>
        <p:txBody>
          <a:bodyPr/>
          <a:lstStyle/>
          <a:p>
            <a:r>
              <a:rPr lang="en-US" b="1" dirty="0"/>
              <a:t>Command?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BD0B53B-CA2B-E944-C619-6BBEBC453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6666" y="1411111"/>
            <a:ext cx="10656711" cy="5159022"/>
          </a:xfrm>
        </p:spPr>
        <p:txBody>
          <a:bodyPr>
            <a:normAutofit/>
          </a:bodyPr>
          <a:lstStyle/>
          <a:p>
            <a:r>
              <a:rPr lang="en-US" dirty="0"/>
              <a:t>Command typically consists of a </a:t>
            </a:r>
            <a:r>
              <a:rPr lang="en-US" b="1" dirty="0"/>
              <a:t>program</a:t>
            </a:r>
            <a:r>
              <a:rPr lang="en-US" dirty="0"/>
              <a:t> name followed by </a:t>
            </a:r>
            <a:r>
              <a:rPr lang="en-US" b="1" dirty="0"/>
              <a:t>options</a:t>
            </a:r>
            <a:r>
              <a:rPr lang="en-US" dirty="0"/>
              <a:t> and </a:t>
            </a:r>
            <a:r>
              <a:rPr lang="en-US" b="1" dirty="0"/>
              <a:t>arguments</a:t>
            </a:r>
          </a:p>
          <a:p>
            <a:pPr marL="0" indent="0">
              <a:buNone/>
            </a:pPr>
            <a:br>
              <a:rPr lang="en-US" b="1" dirty="0">
                <a:latin typeface="Consolas" panose="020B0609020204030204" pitchFamily="49" charset="0"/>
              </a:rPr>
            </a:br>
            <a:r>
              <a:rPr lang="en-US" b="1" dirty="0"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wc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 -l devops_course_outline.txt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Command counts the number of lines in a file</a:t>
            </a: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7A592C8-440D-FC1F-76CB-155CB08C1D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9354989"/>
              </p:ext>
            </p:extLst>
          </p:nvPr>
        </p:nvGraphicFramePr>
        <p:xfrm>
          <a:off x="1207913" y="3567288"/>
          <a:ext cx="7868354" cy="1761066"/>
        </p:xfrm>
        <a:graphic>
          <a:graphicData uri="http://schemas.openxmlformats.org/drawingml/2006/table">
            <a:tbl>
              <a:tblPr/>
              <a:tblGrid>
                <a:gridCol w="2031998">
                  <a:extLst>
                    <a:ext uri="{9D8B030D-6E8A-4147-A177-3AD203B41FA5}">
                      <a16:colId xmlns:a16="http://schemas.microsoft.com/office/drawing/2014/main" val="476913190"/>
                    </a:ext>
                  </a:extLst>
                </a:gridCol>
                <a:gridCol w="5836356">
                  <a:extLst>
                    <a:ext uri="{9D8B030D-6E8A-4147-A177-3AD203B41FA5}">
                      <a16:colId xmlns:a16="http://schemas.microsoft.com/office/drawing/2014/main" val="3272787889"/>
                    </a:ext>
                  </a:extLst>
                </a:gridCol>
              </a:tblGrid>
              <a:tr h="475964"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wc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ym typeface="Wingdings" panose="05000000000000000000" pitchFamily="2" charset="2"/>
                        </a:rPr>
                        <a:t>program to execute</a:t>
                      </a:r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6577596"/>
                  </a:ext>
                </a:extLst>
              </a:tr>
              <a:tr h="64255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-l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ym typeface="Wingdings" panose="05000000000000000000" pitchFamily="2" charset="2"/>
                        </a:rPr>
                        <a:t>is a option that changes behavior of the program. Usually starts with one or two dashes (i.e. -, --)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4540444"/>
                  </a:ext>
                </a:extLst>
              </a:tr>
              <a:tr h="64255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devops_course_outline.txt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ym typeface="Wingdings" panose="05000000000000000000" pitchFamily="2" charset="2"/>
                        </a:rPr>
                        <a:t>argument for the program to operate on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49834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26315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CF0CC-F637-72B9-A15F-135069E59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218DD-DB9E-B69A-C563-6C98E2245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9345"/>
            <a:ext cx="10515600" cy="898941"/>
          </a:xfrm>
        </p:spPr>
        <p:txBody>
          <a:bodyPr/>
          <a:lstStyle/>
          <a:p>
            <a:r>
              <a:rPr lang="en-US" b="1" dirty="0"/>
              <a:t>For Kernel and OS version</a:t>
            </a:r>
            <a:r>
              <a:rPr lang="en-US" dirty="0"/>
              <a:t> </a:t>
            </a:r>
            <a:endParaRPr lang="en-US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6610269-DABA-F14B-F4BA-F3E02238D6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6666" y="1411111"/>
            <a:ext cx="10656711" cy="5159022"/>
          </a:xfrm>
        </p:spPr>
        <p:txBody>
          <a:bodyPr>
            <a:normAutofit/>
          </a:bodyPr>
          <a:lstStyle/>
          <a:p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uname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 -a</a:t>
            </a:r>
          </a:p>
          <a:p>
            <a:endParaRPr lang="en-US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lsb_release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 -a</a:t>
            </a:r>
          </a:p>
          <a:p>
            <a:endParaRPr lang="en-US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cat /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etc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/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os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-release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15374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675F6-2948-0C94-5C91-A16D3044C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9345"/>
            <a:ext cx="10515600" cy="1325563"/>
          </a:xfrm>
        </p:spPr>
        <p:txBody>
          <a:bodyPr/>
          <a:lstStyle/>
          <a:p>
            <a:r>
              <a:rPr lang="en-US" b="1" dirty="0" err="1"/>
              <a:t>Sudo</a:t>
            </a:r>
            <a:r>
              <a:rPr lang="en-US" b="1" dirty="0"/>
              <a:t> Command?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BD0B53B-CA2B-E944-C619-6BBEBC453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6666" y="1411111"/>
            <a:ext cx="10656711" cy="5159022"/>
          </a:xfrm>
        </p:spPr>
        <p:txBody>
          <a:bodyPr>
            <a:normAutofit/>
          </a:bodyPr>
          <a:lstStyle/>
          <a:p>
            <a:r>
              <a:rPr lang="en-US" b="1" dirty="0" err="1"/>
              <a:t>sudo</a:t>
            </a:r>
            <a:r>
              <a:rPr lang="en-US" dirty="0"/>
              <a:t> is a special user with the ability to </a:t>
            </a:r>
            <a:r>
              <a:rPr lang="en-US" b="1" dirty="0"/>
              <a:t>do anything</a:t>
            </a:r>
            <a:r>
              <a:rPr lang="en-US" dirty="0"/>
              <a:t>, generally </a:t>
            </a:r>
            <a:r>
              <a:rPr lang="en-US" b="1" dirty="0"/>
              <a:t>root</a:t>
            </a:r>
            <a:r>
              <a:rPr lang="en-US" dirty="0"/>
              <a:t> (known as </a:t>
            </a:r>
            <a:r>
              <a:rPr lang="en-US" i="1" dirty="0"/>
              <a:t>superuser</a:t>
            </a:r>
            <a:r>
              <a:rPr lang="en-US" dirty="0"/>
              <a:t>)</a:t>
            </a:r>
            <a:endParaRPr lang="en-US" b="1" dirty="0"/>
          </a:p>
          <a:p>
            <a:pPr marL="0" indent="0">
              <a:buNone/>
            </a:pPr>
            <a:br>
              <a:rPr lang="en-US" b="1" dirty="0">
                <a:latin typeface="Consolas" panose="020B0609020204030204" pitchFamily="49" charset="0"/>
              </a:rPr>
            </a:br>
            <a:r>
              <a:rPr lang="en-US" b="1" dirty="0"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sudo</a:t>
            </a:r>
            <a:r>
              <a:rPr lang="en-US" dirty="0">
                <a:latin typeface="Consolas" panose="020B0609020204030204" pitchFamily="49" charset="0"/>
              </a:rPr>
              <a:t> ls –la /root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Listing file and directory permissions with </a:t>
            </a:r>
            <a:r>
              <a:rPr lang="en-US" b="1" i="1" dirty="0"/>
              <a:t>-l</a:t>
            </a:r>
            <a:r>
              <a:rPr lang="en-US" dirty="0"/>
              <a:t> option and </a:t>
            </a:r>
            <a:r>
              <a:rPr lang="en-US" b="1" i="1" dirty="0"/>
              <a:t>a</a:t>
            </a:r>
            <a:r>
              <a:rPr lang="en-US" dirty="0"/>
              <a:t> for listing hidden files</a:t>
            </a: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18010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675F6-2948-0C94-5C91-A16D3044C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39345"/>
            <a:ext cx="11139311" cy="1283055"/>
          </a:xfrm>
        </p:spPr>
        <p:txBody>
          <a:bodyPr/>
          <a:lstStyle/>
          <a:p>
            <a:r>
              <a:rPr lang="en-US" b="1" dirty="0"/>
              <a:t>Basic Operations </a:t>
            </a:r>
            <a:r>
              <a:rPr lang="en-US" b="1" dirty="0">
                <a:sym typeface="Wingdings" panose="05000000000000000000" pitchFamily="2" charset="2"/>
              </a:rPr>
              <a:t> Logging in to Remote System</a:t>
            </a:r>
            <a:endParaRPr lang="en-US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BD0B53B-CA2B-E944-C619-6BBEBC453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6666" y="1411111"/>
            <a:ext cx="10656711" cy="51590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852B07E9-6B6B-E375-C4C3-11DD7172CC4A}"/>
              </a:ext>
            </a:extLst>
          </p:cNvPr>
          <p:cNvSpPr txBox="1">
            <a:spLocks/>
          </p:cNvSpPr>
          <p:nvPr/>
        </p:nvSpPr>
        <p:spPr>
          <a:xfrm>
            <a:off x="999066" y="1563511"/>
            <a:ext cx="10656711" cy="51590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Secure </a:t>
            </a:r>
            <a:r>
              <a:rPr lang="en-US" dirty="0" err="1"/>
              <a:t>SHell</a:t>
            </a:r>
            <a:r>
              <a:rPr lang="en-US" dirty="0"/>
              <a:t> </a:t>
            </a:r>
            <a:r>
              <a:rPr lang="en-US" b="1" dirty="0"/>
              <a:t>(SSH) </a:t>
            </a:r>
            <a:r>
              <a:rPr lang="en-US" dirty="0"/>
              <a:t>allows you to connect and log into remote systems using either a </a:t>
            </a:r>
            <a:r>
              <a:rPr lang="en-US" b="1" dirty="0"/>
              <a:t>password</a:t>
            </a:r>
            <a:r>
              <a:rPr lang="en-US" dirty="0"/>
              <a:t> (as with regular logins) or </a:t>
            </a:r>
            <a:r>
              <a:rPr lang="en-US" b="1" dirty="0"/>
              <a:t>public</a:t>
            </a:r>
            <a:r>
              <a:rPr lang="en-US" dirty="0"/>
              <a:t>/</a:t>
            </a:r>
            <a:r>
              <a:rPr lang="en-US" b="1" dirty="0"/>
              <a:t>private </a:t>
            </a:r>
            <a:r>
              <a:rPr lang="en-US" dirty="0"/>
              <a:t>keys</a:t>
            </a:r>
            <a:r>
              <a:rPr lang="en-US" b="1" dirty="0"/>
              <a:t> </a:t>
            </a:r>
            <a:r>
              <a:rPr lang="en-US" dirty="0"/>
              <a:t>to verify the identity.</a:t>
            </a:r>
            <a:endParaRPr lang="en-US" b="1" dirty="0"/>
          </a:p>
          <a:p>
            <a:pPr marL="0" indent="0">
              <a:buFont typeface="Arial" panose="020B0604020202020204" pitchFamily="34" charset="0"/>
              <a:buNone/>
            </a:pPr>
            <a:br>
              <a:rPr lang="en-US" b="1" dirty="0">
                <a:latin typeface="Consolas" panose="020B0609020204030204" pitchFamily="49" charset="0"/>
              </a:rPr>
            </a:br>
            <a:r>
              <a:rPr lang="en-US" b="1" dirty="0"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ssh</a:t>
            </a:r>
            <a:r>
              <a:rPr lang="en-US" dirty="0">
                <a:latin typeface="Consolas" panose="020B0609020204030204" pitchFamily="49" charset="0"/>
              </a:rPr>
              <a:t> username@remoteserver.com</a:t>
            </a: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r>
              <a:rPr lang="en-US" dirty="0" err="1"/>
              <a:t>ssh</a:t>
            </a:r>
            <a:r>
              <a:rPr lang="en-US" dirty="0"/>
              <a:t> encrypts all the communication between </a:t>
            </a:r>
            <a:r>
              <a:rPr lang="en-US" b="1" i="1" dirty="0"/>
              <a:t>client</a:t>
            </a:r>
            <a:r>
              <a:rPr lang="en-US" dirty="0"/>
              <a:t> and </a:t>
            </a:r>
            <a:r>
              <a:rPr lang="en-US" b="1" i="1" dirty="0"/>
              <a:t>server</a:t>
            </a:r>
            <a:r>
              <a:rPr lang="en-US" dirty="0"/>
              <a:t> machines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i="1" dirty="0">
                <a:latin typeface="Consolas" panose="020B0609020204030204" pitchFamily="49" charset="0"/>
              </a:rPr>
              <a:t>Note</a:t>
            </a:r>
            <a:r>
              <a:rPr lang="en-US" sz="1600" dirty="0">
                <a:latin typeface="Consolas" panose="020B0609020204030204" pitchFamily="49" charset="0"/>
              </a:rPr>
              <a:t>: </a:t>
            </a:r>
            <a:r>
              <a:rPr lang="en-US" sz="1600" dirty="0"/>
              <a:t>Server must have </a:t>
            </a:r>
            <a:r>
              <a:rPr lang="en-US" sz="1600" b="1" dirty="0" err="1"/>
              <a:t>sshd</a:t>
            </a:r>
            <a:r>
              <a:rPr lang="en-US" sz="1600" dirty="0"/>
              <a:t> installed and running in order to accept </a:t>
            </a:r>
            <a:r>
              <a:rPr lang="en-US" sz="1600" dirty="0" err="1"/>
              <a:t>ssh</a:t>
            </a:r>
            <a:r>
              <a:rPr lang="en-US" sz="1600" dirty="0"/>
              <a:t> connection</a:t>
            </a: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42411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112CC-20BB-4BE6-563A-BBE5A2222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6627"/>
            <a:ext cx="3839988" cy="5740072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ym typeface="Wingdings" panose="05000000000000000000" pitchFamily="2" charset="2"/>
              </a:rPr>
              <a:t>Logging in to Remote System</a:t>
            </a:r>
            <a:endParaRPr lang="en-US" sz="4000" dirty="0"/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BC38478-B3B4-11ED-85CB-E94CA6E3CA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6475" y="99174"/>
            <a:ext cx="4412718" cy="6824342"/>
          </a:xfrm>
        </p:spPr>
      </p:pic>
    </p:spTree>
    <p:extLst>
      <p:ext uri="{BB962C8B-B14F-4D97-AF65-F5344CB8AC3E}">
        <p14:creationId xmlns:p14="http://schemas.microsoft.com/office/powerpoint/2010/main" val="3759397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675F6-2948-0C94-5C91-A16D3044C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39345"/>
            <a:ext cx="11139311" cy="1283055"/>
          </a:xfrm>
        </p:spPr>
        <p:txBody>
          <a:bodyPr/>
          <a:lstStyle/>
          <a:p>
            <a:r>
              <a:rPr lang="en-US" b="1" dirty="0"/>
              <a:t>Basic Operations </a:t>
            </a:r>
            <a:r>
              <a:rPr lang="en-US" b="1" dirty="0">
                <a:sym typeface="Wingdings" panose="05000000000000000000" pitchFamily="2" charset="2"/>
              </a:rPr>
              <a:t> Generating Keys</a:t>
            </a:r>
            <a:endParaRPr lang="en-US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BD0B53B-CA2B-E944-C619-6BBEBC453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6666" y="1411111"/>
            <a:ext cx="10656711" cy="51590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852B07E9-6B6B-E375-C4C3-11DD7172CC4A}"/>
              </a:ext>
            </a:extLst>
          </p:cNvPr>
          <p:cNvSpPr txBox="1">
            <a:spLocks/>
          </p:cNvSpPr>
          <p:nvPr/>
        </p:nvSpPr>
        <p:spPr>
          <a:xfrm>
            <a:off x="999066" y="1563511"/>
            <a:ext cx="10656711" cy="51590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br>
              <a:rPr lang="en-US" b="1" dirty="0">
                <a:latin typeface="Consolas" panose="020B0609020204030204" pitchFamily="49" charset="0"/>
              </a:rPr>
            </a:br>
            <a:r>
              <a:rPr lang="en-US" b="1" dirty="0"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ssh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-keygen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r>
              <a:rPr lang="en-US" dirty="0"/>
              <a:t>Will create public and private keys under ~/.</a:t>
            </a:r>
            <a:r>
              <a:rPr lang="en-US" dirty="0" err="1"/>
              <a:t>ssh</a:t>
            </a:r>
            <a:r>
              <a:rPr lang="en-US" dirty="0"/>
              <a:t>/ </a:t>
            </a:r>
          </a:p>
          <a:p>
            <a:pPr marL="457200" lvl="1" indent="0">
              <a:buNone/>
            </a:pPr>
            <a:r>
              <a:rPr lang="en-US" dirty="0"/>
              <a:t>~/.</a:t>
            </a:r>
            <a:r>
              <a:rPr lang="en-US" dirty="0" err="1"/>
              <a:t>ssh</a:t>
            </a:r>
            <a:r>
              <a:rPr lang="en-US" dirty="0"/>
              <a:t>/</a:t>
            </a:r>
            <a:r>
              <a:rPr lang="en-US" dirty="0" err="1"/>
              <a:t>id_rsa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~/.</a:t>
            </a:r>
            <a:r>
              <a:rPr lang="en-US" dirty="0" err="1"/>
              <a:t>ssh</a:t>
            </a:r>
            <a:r>
              <a:rPr lang="en-US" dirty="0"/>
              <a:t>/id_rsa.pub</a:t>
            </a:r>
          </a:p>
          <a:p>
            <a:pPr marL="457200" lvl="1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80234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675F6-2948-0C94-5C91-A16D3044C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39345"/>
            <a:ext cx="11139311" cy="1283055"/>
          </a:xfrm>
        </p:spPr>
        <p:txBody>
          <a:bodyPr/>
          <a:lstStyle/>
          <a:p>
            <a:r>
              <a:rPr lang="en-US" b="1" dirty="0"/>
              <a:t>Basic Operations </a:t>
            </a:r>
            <a:r>
              <a:rPr lang="en-US" b="1" dirty="0">
                <a:sym typeface="Wingdings" panose="05000000000000000000" pitchFamily="2" charset="2"/>
              </a:rPr>
              <a:t> Locating Applications</a:t>
            </a:r>
            <a:endParaRPr lang="en-US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BD0B53B-CA2B-E944-C619-6BBEBC453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6666" y="1411111"/>
            <a:ext cx="10656711" cy="51590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852B07E9-6B6B-E375-C4C3-11DD7172CC4A}"/>
              </a:ext>
            </a:extLst>
          </p:cNvPr>
          <p:cNvSpPr txBox="1">
            <a:spLocks/>
          </p:cNvSpPr>
          <p:nvPr/>
        </p:nvSpPr>
        <p:spPr>
          <a:xfrm>
            <a:off x="999066" y="1358555"/>
            <a:ext cx="10656711" cy="51590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Following utilities are helpful for locating the applications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b="1" dirty="0">
              <a:latin typeface="Consolas" panose="020B0609020204030204" pitchFamily="49" charset="0"/>
            </a:endParaRPr>
          </a:p>
          <a:p>
            <a:pPr marL="971550" lvl="1" indent="-51435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which</a:t>
            </a:r>
            <a:r>
              <a:rPr lang="en-US" dirty="0">
                <a:latin typeface="Consolas" panose="020B0609020204030204" pitchFamily="49" charset="0"/>
              </a:rPr>
              <a:t> diff</a:t>
            </a:r>
            <a:endParaRPr lang="en-US" dirty="0"/>
          </a:p>
          <a:p>
            <a:pPr marL="914400" lvl="2" indent="0">
              <a:buNone/>
            </a:pPr>
            <a:r>
              <a:rPr lang="en-US" dirty="0">
                <a:latin typeface="Consolas" panose="020B0609020204030204" pitchFamily="49" charset="0"/>
              </a:rPr>
              <a:t>/</a:t>
            </a:r>
            <a:r>
              <a:rPr lang="en-US" dirty="0" err="1">
                <a:latin typeface="Consolas" panose="020B0609020204030204" pitchFamily="49" charset="0"/>
              </a:rPr>
              <a:t>usr</a:t>
            </a:r>
            <a:r>
              <a:rPr lang="en-US" dirty="0">
                <a:latin typeface="Consolas" panose="020B0609020204030204" pitchFamily="49" charset="0"/>
              </a:rPr>
              <a:t>/bin/diff</a:t>
            </a:r>
          </a:p>
          <a:p>
            <a:pPr marL="914400" lvl="2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971550" lvl="1" indent="-514350">
              <a:buFont typeface="+mj-lt"/>
              <a:buAutoNum type="arabicPeriod"/>
            </a:pP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whereis</a:t>
            </a:r>
            <a:r>
              <a:rPr lang="en-US" dirty="0">
                <a:latin typeface="Consolas" panose="020B0609020204030204" pitchFamily="49" charset="0"/>
              </a:rPr>
              <a:t> diff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59589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675F6-2948-0C94-5C91-A16D3044C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39345"/>
            <a:ext cx="11139311" cy="1283055"/>
          </a:xfrm>
        </p:spPr>
        <p:txBody>
          <a:bodyPr/>
          <a:lstStyle/>
          <a:p>
            <a:r>
              <a:rPr lang="en-US" b="1" dirty="0"/>
              <a:t>Basic Operations </a:t>
            </a:r>
            <a:r>
              <a:rPr lang="en-US" b="1" dirty="0">
                <a:sym typeface="Wingdings" panose="05000000000000000000" pitchFamily="2" charset="2"/>
              </a:rPr>
              <a:t> Accessing Directories</a:t>
            </a:r>
            <a:endParaRPr lang="en-US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BD0B53B-CA2B-E944-C619-6BBEBC453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6666" y="1411111"/>
            <a:ext cx="10656711" cy="51590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852B07E9-6B6B-E375-C4C3-11DD7172CC4A}"/>
              </a:ext>
            </a:extLst>
          </p:cNvPr>
          <p:cNvSpPr txBox="1">
            <a:spLocks/>
          </p:cNvSpPr>
          <p:nvPr/>
        </p:nvSpPr>
        <p:spPr>
          <a:xfrm>
            <a:off x="999066" y="1358555"/>
            <a:ext cx="10656711" cy="51590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b="1" dirty="0">
              <a:latin typeface="Consolas" panose="020B0609020204030204" pitchFamily="49" charset="0"/>
            </a:endParaRPr>
          </a:p>
          <a:p>
            <a:pPr marL="971550" lvl="1" indent="-514350">
              <a:buFont typeface="+mj-lt"/>
              <a:buAutoNum type="arabicPeriod"/>
            </a:pP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pwd</a:t>
            </a:r>
            <a:r>
              <a:rPr lang="en-US" dirty="0">
                <a:latin typeface="Consolas" panose="020B0609020204030204" pitchFamily="49" charset="0"/>
              </a:rPr>
              <a:t> diff</a:t>
            </a:r>
            <a:endParaRPr lang="en-US" dirty="0"/>
          </a:p>
          <a:p>
            <a:pPr marL="914400" lvl="2" indent="0">
              <a:buNone/>
            </a:pPr>
            <a:r>
              <a:rPr lang="en-US" dirty="0">
                <a:latin typeface="Consolas" panose="020B0609020204030204" pitchFamily="49" charset="0"/>
              </a:rPr>
              <a:t>Displays current directory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cd or cd ~</a:t>
            </a:r>
            <a:r>
              <a:rPr lang="en-US" dirty="0">
                <a:latin typeface="Consolas" panose="020B0609020204030204" pitchFamily="49" charset="0"/>
              </a:rPr>
              <a:t> </a:t>
            </a:r>
          </a:p>
          <a:p>
            <a:pPr marL="914400" lvl="2" indent="0">
              <a:buNone/>
            </a:pPr>
            <a:r>
              <a:rPr lang="en-US" dirty="0">
                <a:latin typeface="Consolas" panose="020B0609020204030204" pitchFamily="49" charset="0"/>
              </a:rPr>
              <a:t>Change to your home directory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cd ..</a:t>
            </a:r>
          </a:p>
          <a:p>
            <a:pPr marL="914400" lvl="2" indent="0">
              <a:buNone/>
            </a:pPr>
            <a:r>
              <a:rPr lang="en-US" dirty="0">
                <a:latin typeface="Consolas" panose="020B0609020204030204" pitchFamily="49" charset="0"/>
              </a:rPr>
              <a:t>Change to parent directory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cd –</a:t>
            </a:r>
          </a:p>
          <a:p>
            <a:pPr marL="914400" lvl="2" indent="0">
              <a:buNone/>
            </a:pPr>
            <a:r>
              <a:rPr lang="en-US" dirty="0">
                <a:latin typeface="Consolas" panose="020B0609020204030204" pitchFamily="49" charset="0"/>
              </a:rPr>
              <a:t>Change to previous directory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55595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675F6-2948-0C94-5C91-A16D3044C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39345"/>
            <a:ext cx="11139311" cy="1283055"/>
          </a:xfrm>
        </p:spPr>
        <p:txBody>
          <a:bodyPr/>
          <a:lstStyle/>
          <a:p>
            <a:r>
              <a:rPr lang="en-US" b="1" dirty="0"/>
              <a:t>Basic Operations </a:t>
            </a:r>
            <a:r>
              <a:rPr lang="en-US" b="1" dirty="0">
                <a:sym typeface="Wingdings" panose="05000000000000000000" pitchFamily="2" charset="2"/>
              </a:rPr>
              <a:t> Absolute &amp; Relative Paths</a:t>
            </a:r>
            <a:endParaRPr lang="en-US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BD0B53B-CA2B-E944-C619-6BBEBC453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6666" y="1411111"/>
            <a:ext cx="10656711" cy="51590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852B07E9-6B6B-E375-C4C3-11DD7172CC4A}"/>
              </a:ext>
            </a:extLst>
          </p:cNvPr>
          <p:cNvSpPr txBox="1">
            <a:spLocks/>
          </p:cNvSpPr>
          <p:nvPr/>
        </p:nvSpPr>
        <p:spPr>
          <a:xfrm>
            <a:off x="999066" y="1358555"/>
            <a:ext cx="10656711" cy="51590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n-US" b="1" dirty="0"/>
              <a:t>Absolute</a:t>
            </a:r>
            <a:r>
              <a:rPr lang="en-US" dirty="0"/>
              <a:t> </a:t>
            </a:r>
          </a:p>
          <a:p>
            <a:pPr marL="457200" lvl="1" indent="0">
              <a:buNone/>
            </a:pPr>
            <a:r>
              <a:rPr lang="en-US" dirty="0"/>
              <a:t>An absolute pathname always start with </a:t>
            </a:r>
            <a:r>
              <a:rPr lang="en-US" dirty="0">
                <a:solidFill>
                  <a:srgbClr val="FF0000"/>
                </a:solidFill>
              </a:rPr>
              <a:t>/</a:t>
            </a:r>
            <a:r>
              <a:rPr lang="en-US" dirty="0"/>
              <a:t> (root directory).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Relative</a:t>
            </a:r>
          </a:p>
          <a:p>
            <a:pPr marL="457200" lvl="1" indent="0">
              <a:buNone/>
            </a:pPr>
            <a:r>
              <a:rPr lang="en-US" dirty="0"/>
              <a:t>A relative pathname starts from the present working directory. Relative paths never start with </a:t>
            </a:r>
            <a:r>
              <a:rPr lang="en-US" dirty="0">
                <a:solidFill>
                  <a:srgbClr val="FF0000"/>
                </a:solidFill>
              </a:rPr>
              <a:t>/</a:t>
            </a:r>
            <a:r>
              <a:rPr lang="en-US" dirty="0"/>
              <a:t>.</a:t>
            </a:r>
          </a:p>
          <a:p>
            <a:pPr marL="457200" lvl="1" indent="0">
              <a:buNone/>
            </a:pPr>
            <a:endParaRPr lang="en-US" dirty="0"/>
          </a:p>
          <a:p>
            <a:pPr marL="971550" lvl="1" indent="-51435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cd /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usr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/bin</a:t>
            </a:r>
            <a:r>
              <a:rPr lang="en-US" dirty="0">
                <a:latin typeface="Consolas" panose="020B0609020204030204" pitchFamily="49" charset="0"/>
              </a:rPr>
              <a:t> </a:t>
            </a:r>
          </a:p>
          <a:p>
            <a:pPr marL="914400" lvl="2" indent="0">
              <a:buNone/>
            </a:pPr>
            <a:r>
              <a:rPr lang="en-US" dirty="0">
                <a:latin typeface="Consolas" panose="020B0609020204030204" pitchFamily="49" charset="0"/>
              </a:rPr>
              <a:t>Absolute path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cd ../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usr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/bin</a:t>
            </a:r>
          </a:p>
          <a:p>
            <a:pPr marL="914400" lvl="2" indent="0">
              <a:buNone/>
            </a:pPr>
            <a:r>
              <a:rPr lang="en-US" dirty="0">
                <a:latin typeface="Consolas" panose="020B0609020204030204" pitchFamily="49" charset="0"/>
              </a:rPr>
              <a:t>Relative path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D22F29-8C5E-A8AC-01B7-BE37EC7C0A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1860" y="3143832"/>
            <a:ext cx="5119185" cy="3654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3424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675F6-2948-0C94-5C91-A16D3044C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39345"/>
            <a:ext cx="11139311" cy="1283055"/>
          </a:xfrm>
        </p:spPr>
        <p:txBody>
          <a:bodyPr/>
          <a:lstStyle/>
          <a:p>
            <a:r>
              <a:rPr lang="en-US" b="1" dirty="0"/>
              <a:t>Basic Operations </a:t>
            </a:r>
            <a:r>
              <a:rPr lang="en-US" b="1" dirty="0">
                <a:sym typeface="Wingdings" panose="05000000000000000000" pitchFamily="2" charset="2"/>
              </a:rPr>
              <a:t> Exploring Filesystem</a:t>
            </a:r>
            <a:endParaRPr lang="en-US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BD0B53B-CA2B-E944-C619-6BBEBC453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6666" y="1411111"/>
            <a:ext cx="10656711" cy="51590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852B07E9-6B6B-E375-C4C3-11DD7172CC4A}"/>
              </a:ext>
            </a:extLst>
          </p:cNvPr>
          <p:cNvSpPr txBox="1">
            <a:spLocks/>
          </p:cNvSpPr>
          <p:nvPr/>
        </p:nvSpPr>
        <p:spPr>
          <a:xfrm>
            <a:off x="999066" y="1358555"/>
            <a:ext cx="10656711" cy="51590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n-US" b="1" dirty="0"/>
              <a:t>Tree </a:t>
            </a:r>
            <a:r>
              <a:rPr lang="en-US" dirty="0"/>
              <a:t>command </a:t>
            </a:r>
          </a:p>
          <a:p>
            <a:pPr marL="457200" lvl="1" indent="0">
              <a:buNone/>
            </a:pPr>
            <a:r>
              <a:rPr lang="en-US" dirty="0"/>
              <a:t>The tree command is a good way to get a bird’s-eye view of the filesystem tree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The following </a:t>
            </a:r>
            <a:r>
              <a:rPr lang="en-US" b="1" dirty="0"/>
              <a:t>commands</a:t>
            </a:r>
            <a:r>
              <a:rPr lang="en-US" dirty="0"/>
              <a:t> can help in exploring the filesystem: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1200F0E-970E-5883-053A-A4C5DFA104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2442562"/>
              </p:ext>
            </p:extLst>
          </p:nvPr>
        </p:nvGraphicFramePr>
        <p:xfrm>
          <a:off x="1532766" y="3362752"/>
          <a:ext cx="8874550" cy="2559784"/>
        </p:xfrm>
        <a:graphic>
          <a:graphicData uri="http://schemas.openxmlformats.org/drawingml/2006/table">
            <a:tbl>
              <a:tblPr/>
              <a:tblGrid>
                <a:gridCol w="2291848">
                  <a:extLst>
                    <a:ext uri="{9D8B030D-6E8A-4147-A177-3AD203B41FA5}">
                      <a16:colId xmlns:a16="http://schemas.microsoft.com/office/drawing/2014/main" val="476913190"/>
                    </a:ext>
                  </a:extLst>
                </a:gridCol>
                <a:gridCol w="6582702">
                  <a:extLst>
                    <a:ext uri="{9D8B030D-6E8A-4147-A177-3AD203B41FA5}">
                      <a16:colId xmlns:a16="http://schemas.microsoft.com/office/drawing/2014/main" val="3272787889"/>
                    </a:ext>
                  </a:extLst>
                </a:gridCol>
              </a:tblGrid>
              <a:tr h="63735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cd /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ym typeface="Wingdings" panose="05000000000000000000" pitchFamily="2" charset="2"/>
                        </a:rPr>
                        <a:t>Changes your current directory to the root (/) directory (or path you supply)</a:t>
                      </a:r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6577596"/>
                  </a:ext>
                </a:extLst>
              </a:tr>
              <a:tr h="63981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ls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ym typeface="Wingdings" panose="05000000000000000000" pitchFamily="2" charset="2"/>
                        </a:rPr>
                        <a:t>List the contents of the present working directory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4540444"/>
                  </a:ext>
                </a:extLst>
              </a:tr>
              <a:tr h="63981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ls -la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ym typeface="Wingdings" panose="05000000000000000000" pitchFamily="2" charset="2"/>
                        </a:rPr>
                        <a:t>List all files, including hidden files and directories (those whose name start with . )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4983428"/>
                  </a:ext>
                </a:extLst>
              </a:tr>
              <a:tr h="63981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tree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Displays a tree view of the filesystem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80987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97738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675F6-2948-0C94-5C91-A16D3044C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39345"/>
            <a:ext cx="11139311" cy="1283055"/>
          </a:xfrm>
        </p:spPr>
        <p:txBody>
          <a:bodyPr/>
          <a:lstStyle/>
          <a:p>
            <a:r>
              <a:rPr lang="en-US" b="1" dirty="0"/>
              <a:t>Viewing Files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BD0B53B-CA2B-E944-C619-6BBEBC453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6666" y="1411111"/>
            <a:ext cx="10656711" cy="51590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852B07E9-6B6B-E375-C4C3-11DD7172CC4A}"/>
              </a:ext>
            </a:extLst>
          </p:cNvPr>
          <p:cNvSpPr txBox="1">
            <a:spLocks/>
          </p:cNvSpPr>
          <p:nvPr/>
        </p:nvSpPr>
        <p:spPr>
          <a:xfrm>
            <a:off x="999066" y="1358555"/>
            <a:ext cx="10656711" cy="51590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You can use the following </a:t>
            </a:r>
            <a:r>
              <a:rPr lang="en-US" b="1" dirty="0"/>
              <a:t>commands </a:t>
            </a:r>
            <a:r>
              <a:rPr lang="en-US" dirty="0"/>
              <a:t>to view files in command line</a:t>
            </a:r>
          </a:p>
          <a:p>
            <a:pPr marL="457200" lvl="1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1200F0E-970E-5883-053A-A4C5DFA104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6153042"/>
              </p:ext>
            </p:extLst>
          </p:nvPr>
        </p:nvGraphicFramePr>
        <p:xfrm>
          <a:off x="1436513" y="2147563"/>
          <a:ext cx="8874550" cy="4385855"/>
        </p:xfrm>
        <a:graphic>
          <a:graphicData uri="http://schemas.openxmlformats.org/drawingml/2006/table">
            <a:tbl>
              <a:tblPr/>
              <a:tblGrid>
                <a:gridCol w="2291848">
                  <a:extLst>
                    <a:ext uri="{9D8B030D-6E8A-4147-A177-3AD203B41FA5}">
                      <a16:colId xmlns:a16="http://schemas.microsoft.com/office/drawing/2014/main" val="476913190"/>
                    </a:ext>
                  </a:extLst>
                </a:gridCol>
                <a:gridCol w="6582702">
                  <a:extLst>
                    <a:ext uri="{9D8B030D-6E8A-4147-A177-3AD203B41FA5}">
                      <a16:colId xmlns:a16="http://schemas.microsoft.com/office/drawing/2014/main" val="3272787889"/>
                    </a:ext>
                  </a:extLst>
                </a:gridCol>
              </a:tblGrid>
              <a:tr h="637351"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rgbClr val="FF0000"/>
                          </a:solidFill>
                        </a:rPr>
                        <a:t>wc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Counts words in a file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9086864"/>
                  </a:ext>
                </a:extLst>
              </a:tr>
              <a:tr h="63735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cat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ym typeface="Wingdings" panose="05000000000000000000" pitchFamily="2" charset="2"/>
                        </a:rPr>
                        <a:t>Used for viewing files that are not very long; it does not provide any scroll-back. –n option to show the line numbers</a:t>
                      </a:r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6577596"/>
                  </a:ext>
                </a:extLst>
              </a:tr>
              <a:tr h="63981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tac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ym typeface="Wingdings" panose="05000000000000000000" pitchFamily="2" charset="2"/>
                        </a:rPr>
                        <a:t>Used to look at a file backwards, starting with the last line.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4540444"/>
                  </a:ext>
                </a:extLst>
              </a:tr>
              <a:tr h="63981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less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ym typeface="Wingdings" panose="05000000000000000000" pitchFamily="2" charset="2"/>
                        </a:rPr>
                        <a:t>Used to view larger files because it is a paging program. It pauses at each screen full of text, provides scroll-back capabilities, and lets you search and navigate within the file.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4983428"/>
                  </a:ext>
                </a:extLst>
              </a:tr>
              <a:tr h="63981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tail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 to print the last 10 lines of a file by default. You can change the number of lines by doing -n 15 or just -15 if you wanted to look at the last 15 lines instead of the default.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8098735"/>
                  </a:ext>
                </a:extLst>
              </a:tr>
              <a:tr h="63981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head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opposite of tail; by default, it prints the first 10 lines of a file.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42586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59738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675F6-2948-0C94-5C91-A16D3044C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39345"/>
            <a:ext cx="11139311" cy="1283055"/>
          </a:xfrm>
        </p:spPr>
        <p:txBody>
          <a:bodyPr/>
          <a:lstStyle/>
          <a:p>
            <a:r>
              <a:rPr lang="en-US" b="1" dirty="0"/>
              <a:t>Viewing Files – touch command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BD0B53B-CA2B-E944-C619-6BBEBC453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6666" y="1411111"/>
            <a:ext cx="10656711" cy="51590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852B07E9-6B6B-E375-C4C3-11DD7172CC4A}"/>
              </a:ext>
            </a:extLst>
          </p:cNvPr>
          <p:cNvSpPr txBox="1">
            <a:spLocks/>
          </p:cNvSpPr>
          <p:nvPr/>
        </p:nvSpPr>
        <p:spPr>
          <a:xfrm>
            <a:off x="999066" y="1202139"/>
            <a:ext cx="10656711" cy="51590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touch</a:t>
            </a:r>
            <a:r>
              <a:rPr lang="en-US" dirty="0"/>
              <a:t> is often used to set or update the access, change, and modify times of files.</a:t>
            </a:r>
          </a:p>
          <a:p>
            <a:pPr marL="0" indent="0">
              <a:buNone/>
            </a:pPr>
            <a:r>
              <a:rPr lang="en-US" dirty="0"/>
              <a:t>Also used to create </a:t>
            </a:r>
            <a:r>
              <a:rPr lang="en-US" b="1" dirty="0"/>
              <a:t>empty</a:t>
            </a:r>
            <a:r>
              <a:rPr lang="en-US" dirty="0"/>
              <a:t> files</a:t>
            </a:r>
          </a:p>
          <a:p>
            <a:pPr marL="0" indent="0">
              <a:buNone/>
            </a:pPr>
            <a:endParaRPr lang="en-US" dirty="0"/>
          </a:p>
          <a:p>
            <a:pPr marL="971550" lvl="1" indent="-51435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touch </a:t>
            </a:r>
            <a:r>
              <a:rPr lang="en-US" dirty="0" err="1">
                <a:latin typeface="Consolas" panose="020B0609020204030204" pitchFamily="49" charset="0"/>
              </a:rPr>
              <a:t>devops_class</a:t>
            </a:r>
            <a:endParaRPr lang="en-US" dirty="0">
              <a:latin typeface="Consolas" panose="020B0609020204030204" pitchFamily="49" charset="0"/>
            </a:endParaRPr>
          </a:p>
          <a:p>
            <a:pPr marL="914400" lvl="2" indent="0">
              <a:buNone/>
            </a:pPr>
            <a:r>
              <a:rPr lang="en-US" dirty="0">
                <a:latin typeface="Consolas" panose="020B0609020204030204" pitchFamily="49" charset="0"/>
              </a:rPr>
              <a:t>Create new empty file</a:t>
            </a:r>
          </a:p>
          <a:p>
            <a:pPr marL="914400" lvl="2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971550" lvl="1" indent="-51435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touch -t 12091600 </a:t>
            </a:r>
            <a:r>
              <a:rPr lang="en-US" dirty="0" err="1">
                <a:latin typeface="Consolas" panose="020B0609020204030204" pitchFamily="49" charset="0"/>
              </a:rPr>
              <a:t>devops_class</a:t>
            </a:r>
            <a:endParaRPr lang="en-US" dirty="0">
              <a:latin typeface="Consolas" panose="020B0609020204030204" pitchFamily="49" charset="0"/>
            </a:endParaRPr>
          </a:p>
          <a:p>
            <a:pPr marL="914400" lvl="2" indent="0">
              <a:buNone/>
            </a:pPr>
            <a:r>
              <a:rPr lang="en-US" dirty="0">
                <a:latin typeface="Consolas" panose="020B0609020204030204" pitchFamily="49" charset="0"/>
              </a:rPr>
              <a:t>This sets the </a:t>
            </a:r>
            <a:r>
              <a:rPr lang="en-US" dirty="0" err="1">
                <a:latin typeface="Consolas" panose="020B0609020204030204" pitchFamily="49" charset="0"/>
              </a:rPr>
              <a:t>devops_class</a:t>
            </a:r>
            <a:r>
              <a:rPr lang="en-US" dirty="0">
                <a:latin typeface="Consolas" panose="020B0609020204030204" pitchFamily="49" charset="0"/>
              </a:rPr>
              <a:t> file's timestamp to 4 p.m., December 9th (12 09 1600)</a:t>
            </a:r>
          </a:p>
          <a:p>
            <a:pPr marL="0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22896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675F6-2948-0C94-5C91-A16D3044C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39345"/>
            <a:ext cx="11139311" cy="1283055"/>
          </a:xfrm>
        </p:spPr>
        <p:txBody>
          <a:bodyPr/>
          <a:lstStyle/>
          <a:p>
            <a:r>
              <a:rPr lang="en-US" b="1" dirty="0"/>
              <a:t>Searching for Files – locate command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BD0B53B-CA2B-E944-C619-6BBEBC453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6666" y="1411111"/>
            <a:ext cx="10656711" cy="51590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852B07E9-6B6B-E375-C4C3-11DD7172CC4A}"/>
              </a:ext>
            </a:extLst>
          </p:cNvPr>
          <p:cNvSpPr txBox="1">
            <a:spLocks/>
          </p:cNvSpPr>
          <p:nvPr/>
        </p:nvSpPr>
        <p:spPr>
          <a:xfrm>
            <a:off x="999066" y="1202139"/>
            <a:ext cx="10779850" cy="5114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locate</a:t>
            </a:r>
            <a:r>
              <a:rPr lang="en-US" dirty="0"/>
              <a:t> utilizes a database created by a related utility, </a:t>
            </a:r>
            <a:r>
              <a:rPr lang="en-US" dirty="0" err="1">
                <a:solidFill>
                  <a:srgbClr val="FF0000"/>
                </a:solidFill>
              </a:rPr>
              <a:t>updatedb</a:t>
            </a:r>
            <a:r>
              <a:rPr lang="en-US" dirty="0"/>
              <a:t>.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It match all entries that contain a specified character string in a constructed database of files and directories on your system.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Most Linux systems run this automatically once a day</a:t>
            </a:r>
          </a:p>
          <a:p>
            <a:pPr marL="0" indent="0">
              <a:buNone/>
            </a:pPr>
            <a:endParaRPr lang="en-US" dirty="0"/>
          </a:p>
          <a:p>
            <a:pPr marL="971550" lvl="1" indent="-51435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locate </a:t>
            </a:r>
            <a:r>
              <a:rPr lang="en-US" dirty="0">
                <a:latin typeface="Consolas" panose="020B0609020204030204" pitchFamily="49" charset="0"/>
              </a:rPr>
              <a:t>zip</a:t>
            </a:r>
          </a:p>
          <a:p>
            <a:pPr marL="914400" lvl="2" indent="0">
              <a:buNone/>
            </a:pPr>
            <a:r>
              <a:rPr lang="en-US" dirty="0">
                <a:latin typeface="Consolas" panose="020B0609020204030204" pitchFamily="49" charset="0"/>
              </a:rPr>
              <a:t>Will list all folders and files contain zip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077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675F6-2948-0C94-5C91-A16D3044C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994"/>
            <a:ext cx="11139311" cy="1283055"/>
          </a:xfrm>
        </p:spPr>
        <p:txBody>
          <a:bodyPr/>
          <a:lstStyle/>
          <a:p>
            <a:r>
              <a:rPr lang="en-US" b="1" dirty="0"/>
              <a:t>Searching for Files – find command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BD0B53B-CA2B-E944-C619-6BBEBC453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6666" y="1411111"/>
            <a:ext cx="10656711" cy="51590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852B07E9-6B6B-E375-C4C3-11DD7172CC4A}"/>
              </a:ext>
            </a:extLst>
          </p:cNvPr>
          <p:cNvSpPr txBox="1">
            <a:spLocks/>
          </p:cNvSpPr>
          <p:nvPr/>
        </p:nvSpPr>
        <p:spPr>
          <a:xfrm>
            <a:off x="999065" y="1108510"/>
            <a:ext cx="10852039" cy="5571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100" b="1" dirty="0">
                <a:solidFill>
                  <a:srgbClr val="FF0000"/>
                </a:solidFill>
              </a:rPr>
              <a:t>find</a:t>
            </a:r>
            <a:r>
              <a:rPr lang="en-US" dirty="0"/>
              <a:t> is an extremely useful and often-used utility program in the daily life of a DevOps Eng.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Think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Automate file operations (</a:t>
            </a:r>
            <a:r>
              <a:rPr lang="en-US" u="sng" dirty="0"/>
              <a:t>cleanups</a:t>
            </a:r>
            <a:r>
              <a:rPr lang="en-US" dirty="0"/>
              <a:t>, </a:t>
            </a:r>
            <a:r>
              <a:rPr lang="en-US" u="sng" dirty="0"/>
              <a:t>backups</a:t>
            </a:r>
            <a:r>
              <a:rPr lang="en-US" dirty="0"/>
              <a:t>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About </a:t>
            </a:r>
            <a:r>
              <a:rPr lang="en-US" u="sng" dirty="0"/>
              <a:t>deleting old files</a:t>
            </a:r>
            <a:r>
              <a:rPr lang="en-US" dirty="0"/>
              <a:t> of certain types (backups)?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u="sng" dirty="0"/>
              <a:t>Search logs or config</a:t>
            </a:r>
            <a:r>
              <a:rPr lang="en-US" dirty="0"/>
              <a:t> files across systems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u="sng" dirty="0"/>
              <a:t>Changing permission</a:t>
            </a:r>
            <a:r>
              <a:rPr lang="en-US" dirty="0"/>
              <a:t> of certain type of files etc.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u="sng" dirty="0"/>
              <a:t>Identify large files</a:t>
            </a:r>
            <a:r>
              <a:rPr lang="en-US" dirty="0"/>
              <a:t> eating disk space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Powerful when used in </a:t>
            </a:r>
            <a:r>
              <a:rPr lang="en-US" u="sng" dirty="0"/>
              <a:t>CI/CD scripts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4404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68C08-41F0-3D90-696C-8E77AA295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CEBD2-AE3E-1ADF-C0CD-D4F2FC992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994"/>
            <a:ext cx="11139311" cy="1283055"/>
          </a:xfrm>
        </p:spPr>
        <p:txBody>
          <a:bodyPr/>
          <a:lstStyle/>
          <a:p>
            <a:r>
              <a:rPr lang="en-US" b="1" dirty="0"/>
              <a:t>Searching for Files – find command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3698DBB-11A8-9C34-2089-7208133E0E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6666" y="1411111"/>
            <a:ext cx="10656711" cy="51590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35A3C07E-3D2A-4B95-38D6-E5E7BB5910AE}"/>
              </a:ext>
            </a:extLst>
          </p:cNvPr>
          <p:cNvSpPr txBox="1">
            <a:spLocks/>
          </p:cNvSpPr>
          <p:nvPr/>
        </p:nvSpPr>
        <p:spPr>
          <a:xfrm>
            <a:off x="999065" y="1415270"/>
            <a:ext cx="10852039" cy="53512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dirty="0"/>
              <a:t>Basic syntax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find [path] [expression]</a:t>
            </a:r>
          </a:p>
          <a:p>
            <a:pPr marL="0" indent="0">
              <a:buNone/>
            </a:pPr>
            <a:endParaRPr lang="en-US" dirty="0"/>
          </a:p>
          <a:p>
            <a:pPr marL="971550" lvl="1" indent="-51435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find /var/log -name “*.log”</a:t>
            </a:r>
          </a:p>
          <a:p>
            <a:pPr marL="914400" lvl="2" indent="0">
              <a:buNone/>
            </a:pPr>
            <a:r>
              <a:rPr lang="en-US" dirty="0">
                <a:latin typeface="Consolas" panose="020B0609020204030204" pitchFamily="49" charset="0"/>
              </a:rPr>
              <a:t>Searching for files ending with </a:t>
            </a:r>
            <a:r>
              <a:rPr lang="en-US" i="1" dirty="0">
                <a:latin typeface="Consolas" panose="020B0609020204030204" pitchFamily="49" charset="0"/>
              </a:rPr>
              <a:t>.log</a:t>
            </a:r>
            <a:endParaRPr lang="en-US" i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marL="971550" lvl="1" indent="-51435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find /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usr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 -name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gcc</a:t>
            </a:r>
            <a:endParaRPr lang="en-US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marL="914400" lvl="2" indent="0">
              <a:buNone/>
            </a:pPr>
            <a:r>
              <a:rPr lang="en-US" dirty="0">
                <a:latin typeface="Consolas" panose="020B0609020204030204" pitchFamily="49" charset="0"/>
              </a:rPr>
              <a:t>Searching for files and directories named </a:t>
            </a:r>
            <a:r>
              <a:rPr lang="en-US" dirty="0" err="1">
                <a:latin typeface="Consolas" panose="020B0609020204030204" pitchFamily="49" charset="0"/>
              </a:rPr>
              <a:t>gcc</a:t>
            </a:r>
            <a:endParaRPr lang="en-US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marL="971550" lvl="1" indent="-51435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find /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usr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 -type d -name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gcc</a:t>
            </a:r>
            <a:endParaRPr lang="en-US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marL="914400" lvl="2" indent="0">
              <a:buNone/>
            </a:pPr>
            <a:r>
              <a:rPr lang="en-US" dirty="0">
                <a:latin typeface="Consolas" panose="020B0609020204030204" pitchFamily="49" charset="0"/>
              </a:rPr>
              <a:t>Searching only for directories named </a:t>
            </a:r>
            <a:r>
              <a:rPr lang="en-US" dirty="0" err="1">
                <a:latin typeface="Consolas" panose="020B0609020204030204" pitchFamily="49" charset="0"/>
              </a:rPr>
              <a:t>gcc</a:t>
            </a:r>
            <a:endParaRPr lang="en-US" dirty="0">
              <a:latin typeface="Consolas" panose="020B0609020204030204" pitchFamily="49" charset="0"/>
            </a:endParaRPr>
          </a:p>
          <a:p>
            <a:pPr marL="971550" lvl="1" indent="-51435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find /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usr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 -type f -name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gcc</a:t>
            </a:r>
            <a:endParaRPr lang="en-US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marL="914400" lvl="2" indent="0">
              <a:buNone/>
            </a:pPr>
            <a:r>
              <a:rPr lang="en-US" dirty="0">
                <a:latin typeface="Consolas" panose="020B0609020204030204" pitchFamily="49" charset="0"/>
              </a:rPr>
              <a:t>Searching only for regular files named </a:t>
            </a:r>
            <a:r>
              <a:rPr lang="en-US" dirty="0" err="1">
                <a:latin typeface="Consolas" panose="020B0609020204030204" pitchFamily="49" charset="0"/>
              </a:rPr>
              <a:t>gcc</a:t>
            </a:r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49263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34F8C-5EBD-25EB-93B0-0424A0B3A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E3BD5-0A99-AB52-7A8D-3D3D57A56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994"/>
            <a:ext cx="11139311" cy="1048991"/>
          </a:xfrm>
        </p:spPr>
        <p:txBody>
          <a:bodyPr/>
          <a:lstStyle/>
          <a:p>
            <a:r>
              <a:rPr lang="en-US" b="1" i="1" dirty="0"/>
              <a:t>find</a:t>
            </a:r>
            <a:r>
              <a:rPr lang="en-US" b="1" dirty="0"/>
              <a:t> command - Commonly Used Options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86C9D9B-D835-E76C-E8F3-B7D22ED68A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6666" y="1411111"/>
            <a:ext cx="10656711" cy="51590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214A36D9-9778-872E-29F2-E1CC892F3501}"/>
              </a:ext>
            </a:extLst>
          </p:cNvPr>
          <p:cNvSpPr txBox="1">
            <a:spLocks/>
          </p:cNvSpPr>
          <p:nvPr/>
        </p:nvSpPr>
        <p:spPr>
          <a:xfrm>
            <a:off x="999065" y="1150374"/>
            <a:ext cx="10852039" cy="561618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-name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	Match filename (case-sensitive)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iname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	Match filename (case-insensitive)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-type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	File type (f=file, d=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dir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-size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	File size (+100M, -10k)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mtime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	Modified time (in days)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-exec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	Execute command on result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-user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	Files owned by user</a:t>
            </a:r>
          </a:p>
        </p:txBody>
      </p:sp>
    </p:spTree>
    <p:extLst>
      <p:ext uri="{BB962C8B-B14F-4D97-AF65-F5344CB8AC3E}">
        <p14:creationId xmlns:p14="http://schemas.microsoft.com/office/powerpoint/2010/main" val="15885077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675F6-2948-0C94-5C91-A16D3044C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39345"/>
            <a:ext cx="11139311" cy="128305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Searching for Files – find command – More options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BD0B53B-CA2B-E944-C619-6BBEBC453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6666" y="1411111"/>
            <a:ext cx="10656711" cy="51590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852B07E9-6B6B-E375-C4C3-11DD7172CC4A}"/>
              </a:ext>
            </a:extLst>
          </p:cNvPr>
          <p:cNvSpPr txBox="1">
            <a:spLocks/>
          </p:cNvSpPr>
          <p:nvPr/>
        </p:nvSpPr>
        <p:spPr>
          <a:xfrm>
            <a:off x="999065" y="1202139"/>
            <a:ext cx="10984388" cy="54513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pPr marL="971550" lvl="1" indent="-51435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find -name “*.jpg” –exec rm {} ‘;’</a:t>
            </a:r>
          </a:p>
          <a:p>
            <a:pPr marL="914400" lvl="2" indent="0">
              <a:buNone/>
            </a:pPr>
            <a:r>
              <a:rPr lang="en-US" dirty="0">
                <a:latin typeface="Consolas" panose="020B0609020204030204" pitchFamily="49" charset="0"/>
              </a:rPr>
              <a:t>Find and remove all files that end with .jpg in current directory and its subdirectories.</a:t>
            </a:r>
            <a:endParaRPr lang="en-US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marL="971550" lvl="1" indent="-51435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find / -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ctime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 3</a:t>
            </a:r>
          </a:p>
          <a:p>
            <a:pPr marL="914400" lvl="2" indent="0">
              <a:buNone/>
            </a:pPr>
            <a:r>
              <a:rPr lang="en-US" dirty="0">
                <a:latin typeface="Consolas" panose="020B0609020204030204" pitchFamily="49" charset="0"/>
              </a:rPr>
              <a:t>find files based on time.</a:t>
            </a:r>
            <a:endParaRPr lang="en-US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marL="971550" lvl="1" indent="-51435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find / -size 0</a:t>
            </a:r>
          </a:p>
          <a:p>
            <a:pPr marL="914400" lvl="2" indent="0">
              <a:buNone/>
            </a:pPr>
            <a:r>
              <a:rPr lang="en-US" dirty="0">
                <a:latin typeface="Consolas" panose="020B0609020204030204" pitchFamily="49" charset="0"/>
              </a:rPr>
              <a:t>find files based on sizes.</a:t>
            </a:r>
            <a:endParaRPr lang="en-US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marL="971550" lvl="1" indent="-51435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find / -size +10M -exec command {} ’;’</a:t>
            </a:r>
          </a:p>
          <a:p>
            <a:pPr marL="914400" lvl="2" indent="0">
              <a:buNone/>
            </a:pPr>
            <a:r>
              <a:rPr lang="en-US" dirty="0">
                <a:latin typeface="Consolas" panose="020B0609020204030204" pitchFamily="49" charset="0"/>
              </a:rPr>
              <a:t>find files greater than 10 MB in size and running a command on those files.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The {} is a placeholder that will be </a:t>
            </a:r>
            <a:r>
              <a:rPr lang="en-US" b="1" dirty="0"/>
              <a:t>filled</a:t>
            </a:r>
            <a:r>
              <a:rPr lang="en-US" dirty="0"/>
              <a:t> with all the </a:t>
            </a:r>
            <a:r>
              <a:rPr lang="en-US" b="1" dirty="0"/>
              <a:t>file names </a:t>
            </a:r>
            <a:r>
              <a:rPr lang="en-US" dirty="0"/>
              <a:t>that result from the find expression, and the preceding command will be run on each one individually.</a:t>
            </a:r>
          </a:p>
        </p:txBody>
      </p:sp>
    </p:spTree>
    <p:extLst>
      <p:ext uri="{BB962C8B-B14F-4D97-AF65-F5344CB8AC3E}">
        <p14:creationId xmlns:p14="http://schemas.microsoft.com/office/powerpoint/2010/main" val="34823598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675F6-2948-0C94-5C91-A16D3044C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39345"/>
            <a:ext cx="11139311" cy="1283055"/>
          </a:xfrm>
        </p:spPr>
        <p:txBody>
          <a:bodyPr>
            <a:normAutofit/>
          </a:bodyPr>
          <a:lstStyle/>
          <a:p>
            <a:r>
              <a:rPr lang="en-US" b="1" dirty="0"/>
              <a:t>Linux Documentation Sources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BD0B53B-CA2B-E944-C619-6BBEBC453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6666" y="1411111"/>
            <a:ext cx="10656711" cy="51590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59904F0-8A8D-3490-300C-97F6350D56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9024" y="1743869"/>
            <a:ext cx="6417377" cy="3761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5711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675F6-2948-0C94-5C91-A16D3044C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39345"/>
            <a:ext cx="11139311" cy="1283055"/>
          </a:xfrm>
        </p:spPr>
        <p:txBody>
          <a:bodyPr>
            <a:normAutofit/>
          </a:bodyPr>
          <a:lstStyle/>
          <a:p>
            <a:r>
              <a:rPr lang="fr-FR" b="1" dirty="0"/>
              <a:t>Linux Documentation – The Man Pages</a:t>
            </a:r>
            <a:endParaRPr lang="en-US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BD0B53B-CA2B-E944-C619-6BBEBC453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6666" y="1411111"/>
            <a:ext cx="10656711" cy="51590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852B07E9-6B6B-E375-C4C3-11DD7172CC4A}"/>
              </a:ext>
            </a:extLst>
          </p:cNvPr>
          <p:cNvSpPr txBox="1">
            <a:spLocks/>
          </p:cNvSpPr>
          <p:nvPr/>
        </p:nvSpPr>
        <p:spPr>
          <a:xfrm>
            <a:off x="999064" y="1202139"/>
            <a:ext cx="10996419" cy="44887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man pages are the most often-used source of Linux documentation.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Typing </a:t>
            </a:r>
            <a:r>
              <a:rPr lang="en-US" b="1" dirty="0"/>
              <a:t>man</a:t>
            </a:r>
            <a:r>
              <a:rPr lang="en-US" dirty="0"/>
              <a:t> with a </a:t>
            </a:r>
            <a:r>
              <a:rPr lang="en-US" b="1" dirty="0"/>
              <a:t>topic</a:t>
            </a:r>
            <a:r>
              <a:rPr lang="en-US" dirty="0"/>
              <a:t> </a:t>
            </a:r>
            <a:r>
              <a:rPr lang="en-US" b="1" dirty="0"/>
              <a:t>name</a:t>
            </a:r>
            <a:r>
              <a:rPr lang="en-US" dirty="0"/>
              <a:t> as an argument retrieves the information stored in the topic's man pages.</a:t>
            </a:r>
          </a:p>
          <a:p>
            <a:pPr marL="0" indent="0">
              <a:buNone/>
            </a:pPr>
            <a:endParaRPr lang="en-US" dirty="0"/>
          </a:p>
          <a:p>
            <a:pPr marL="971550" lvl="1" indent="-51435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man apache2</a:t>
            </a:r>
          </a:p>
          <a:p>
            <a:pPr marL="914400" lvl="2" indent="0">
              <a:buNone/>
            </a:pPr>
            <a:endParaRPr lang="en-US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marL="971550" lvl="1" indent="-51435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man –k compress</a:t>
            </a:r>
          </a:p>
          <a:p>
            <a:pPr marL="914400" lvl="2" indent="0">
              <a:buNone/>
            </a:pPr>
            <a:endParaRPr lang="en-US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97338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675F6-2948-0C94-5C91-A16D3044C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39345"/>
            <a:ext cx="11139311" cy="1283055"/>
          </a:xfrm>
        </p:spPr>
        <p:txBody>
          <a:bodyPr>
            <a:normAutofit/>
          </a:bodyPr>
          <a:lstStyle/>
          <a:p>
            <a:r>
              <a:rPr lang="fr-FR" b="1" dirty="0"/>
              <a:t>Linux Documentation – The GNU Info</a:t>
            </a:r>
            <a:endParaRPr lang="en-US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BD0B53B-CA2B-E944-C619-6BBEBC453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6666" y="1411111"/>
            <a:ext cx="10656711" cy="51590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852B07E9-6B6B-E375-C4C3-11DD7172CC4A}"/>
              </a:ext>
            </a:extLst>
          </p:cNvPr>
          <p:cNvSpPr txBox="1">
            <a:spLocks/>
          </p:cNvSpPr>
          <p:nvPr/>
        </p:nvSpPr>
        <p:spPr>
          <a:xfrm>
            <a:off x="999065" y="1202139"/>
            <a:ext cx="10827977" cy="45970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This is the GNU project's standard documentation format, which it prefers as an alternative to man.</a:t>
            </a:r>
          </a:p>
          <a:p>
            <a:endParaRPr lang="en-US" dirty="0"/>
          </a:p>
          <a:p>
            <a:r>
              <a:rPr lang="en-US" dirty="0"/>
              <a:t>Information can be viewed through either a command line interface, a graphical help utility, printed or viewed online.</a:t>
            </a:r>
          </a:p>
          <a:p>
            <a:pPr marL="0" indent="0">
              <a:buNone/>
            </a:pPr>
            <a:endParaRPr lang="en-US" dirty="0"/>
          </a:p>
          <a:p>
            <a:pPr marL="971550" lvl="1" indent="-51435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info &lt;topic name&gt;</a:t>
            </a:r>
          </a:p>
          <a:p>
            <a:pPr marL="914400" lvl="2" indent="0">
              <a:buNone/>
            </a:pPr>
            <a:endParaRPr lang="en-US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marL="971550" lvl="1" indent="-51435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info make</a:t>
            </a:r>
          </a:p>
        </p:txBody>
      </p:sp>
    </p:spTree>
    <p:extLst>
      <p:ext uri="{BB962C8B-B14F-4D97-AF65-F5344CB8AC3E}">
        <p14:creationId xmlns:p14="http://schemas.microsoft.com/office/powerpoint/2010/main" val="9374415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675F6-2948-0C94-5C91-A16D3044C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39345"/>
            <a:ext cx="11139311" cy="1283055"/>
          </a:xfrm>
        </p:spPr>
        <p:txBody>
          <a:bodyPr>
            <a:normAutofit/>
          </a:bodyPr>
          <a:lstStyle/>
          <a:p>
            <a:r>
              <a:rPr lang="fr-FR" b="1" dirty="0"/>
              <a:t>Linux Documentation – The --help Option</a:t>
            </a:r>
            <a:endParaRPr lang="en-US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BD0B53B-CA2B-E944-C619-6BBEBC453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6666" y="1411111"/>
            <a:ext cx="10656711" cy="51590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852B07E9-6B6B-E375-C4C3-11DD7172CC4A}"/>
              </a:ext>
            </a:extLst>
          </p:cNvPr>
          <p:cNvSpPr txBox="1">
            <a:spLocks/>
          </p:cNvSpPr>
          <p:nvPr/>
        </p:nvSpPr>
        <p:spPr>
          <a:xfrm>
            <a:off x="999065" y="1202139"/>
            <a:ext cx="10647503" cy="36345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Most commands have an available short description which can be viewed using the </a:t>
            </a:r>
            <a:r>
              <a:rPr lang="en-US" b="1" dirty="0"/>
              <a:t>--help</a:t>
            </a:r>
            <a:r>
              <a:rPr lang="en-US" dirty="0"/>
              <a:t> or the </a:t>
            </a:r>
            <a:r>
              <a:rPr lang="en-US" b="1" dirty="0"/>
              <a:t>-h</a:t>
            </a:r>
            <a:r>
              <a:rPr lang="en-US" dirty="0"/>
              <a:t> option along with the command or application.</a:t>
            </a:r>
          </a:p>
          <a:p>
            <a:endParaRPr lang="en-US" dirty="0"/>
          </a:p>
          <a:p>
            <a:r>
              <a:rPr lang="en-US" dirty="0"/>
              <a:t>Useful for quick reference and faster than man or info pages</a:t>
            </a:r>
          </a:p>
          <a:p>
            <a:pPr marL="0" indent="0">
              <a:buNone/>
            </a:pPr>
            <a:endParaRPr lang="en-US" dirty="0"/>
          </a:p>
          <a:p>
            <a:pPr marL="971550" lvl="1" indent="-51435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man --help</a:t>
            </a:r>
          </a:p>
          <a:p>
            <a:pPr marL="914400" lvl="2" indent="0">
              <a:buNone/>
            </a:pPr>
            <a:endParaRPr lang="en-US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55888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675F6-2948-0C94-5C91-A16D3044C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39345"/>
            <a:ext cx="11139311" cy="1283055"/>
          </a:xfrm>
        </p:spPr>
        <p:txBody>
          <a:bodyPr>
            <a:normAutofit/>
          </a:bodyPr>
          <a:lstStyle/>
          <a:p>
            <a:r>
              <a:rPr lang="fr-FR" b="1" dirty="0"/>
              <a:t>Linux Documentation – Online Ressources</a:t>
            </a:r>
            <a:endParaRPr lang="en-US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BD0B53B-CA2B-E944-C619-6BBEBC453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6666" y="1411111"/>
            <a:ext cx="10656711" cy="51590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852B07E9-6B6B-E375-C4C3-11DD7172CC4A}"/>
              </a:ext>
            </a:extLst>
          </p:cNvPr>
          <p:cNvSpPr txBox="1">
            <a:spLocks/>
          </p:cNvSpPr>
          <p:nvPr/>
        </p:nvSpPr>
        <p:spPr>
          <a:xfrm>
            <a:off x="926875" y="1526992"/>
            <a:ext cx="10864072" cy="41398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There are many places to access online Linux documentation for each distribution. Here are just a few links to such sources:</a:t>
            </a:r>
          </a:p>
          <a:p>
            <a:r>
              <a:rPr lang="en-US" dirty="0"/>
              <a:t>Useful for quick reference and faster than man or info pages</a:t>
            </a:r>
          </a:p>
          <a:p>
            <a:endParaRPr lang="en-US" dirty="0"/>
          </a:p>
          <a:p>
            <a:pPr lvl="2"/>
            <a:r>
              <a:rPr lang="en-US" dirty="0">
                <a:hlinkClick r:id="rId2"/>
              </a:rPr>
              <a:t>Ubuntu Documentation</a:t>
            </a:r>
            <a:endParaRPr lang="en-US" dirty="0"/>
          </a:p>
          <a:p>
            <a:pPr lvl="2"/>
            <a:r>
              <a:rPr lang="en-US" dirty="0" err="1">
                <a:hlinkClick r:id="rId3"/>
              </a:rPr>
              <a:t>CentoS</a:t>
            </a:r>
            <a:r>
              <a:rPr lang="en-US" dirty="0">
                <a:hlinkClick r:id="rId3"/>
              </a:rPr>
              <a:t> Documentation</a:t>
            </a:r>
            <a:endParaRPr lang="en-US" dirty="0"/>
          </a:p>
          <a:p>
            <a:pPr lvl="2"/>
            <a:r>
              <a:rPr lang="en-US" dirty="0">
                <a:hlinkClick r:id="rId4"/>
              </a:rPr>
              <a:t>Fedora Documentation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775903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675F6-2948-0C94-5C91-A16D3044C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39345"/>
            <a:ext cx="11139311" cy="1283055"/>
          </a:xfrm>
        </p:spPr>
        <p:txBody>
          <a:bodyPr>
            <a:normAutofit/>
          </a:bodyPr>
          <a:lstStyle/>
          <a:p>
            <a:r>
              <a:rPr lang="fr-FR" b="1" dirty="0"/>
              <a:t>Actions on </a:t>
            </a:r>
            <a:r>
              <a:rPr lang="fr-FR" b="1" dirty="0" err="1"/>
              <a:t>Processes</a:t>
            </a:r>
            <a:r>
              <a:rPr lang="fr-FR" b="1" dirty="0"/>
              <a:t> – </a:t>
            </a:r>
            <a:r>
              <a:rPr lang="fr-FR" b="1" dirty="0" err="1"/>
              <a:t>Terminate</a:t>
            </a:r>
            <a:r>
              <a:rPr lang="fr-FR" b="1" dirty="0"/>
              <a:t> a Process</a:t>
            </a:r>
            <a:endParaRPr lang="en-US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BD0B53B-CA2B-E944-C619-6BBEBC453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6666" y="1411111"/>
            <a:ext cx="10656711" cy="51590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852B07E9-6B6B-E375-C4C3-11DD7172CC4A}"/>
              </a:ext>
            </a:extLst>
          </p:cNvPr>
          <p:cNvSpPr txBox="1">
            <a:spLocks/>
          </p:cNvSpPr>
          <p:nvPr/>
        </p:nvSpPr>
        <p:spPr>
          <a:xfrm>
            <a:off x="999065" y="1202139"/>
            <a:ext cx="10984388" cy="54513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At some point, one of your applications may stop working properly. How do you eliminate it?</a:t>
            </a:r>
          </a:p>
          <a:p>
            <a:endParaRPr lang="en-US" dirty="0"/>
          </a:p>
          <a:p>
            <a:r>
              <a:rPr lang="en-US" dirty="0"/>
              <a:t>To terminate a process, you can type</a:t>
            </a:r>
          </a:p>
          <a:p>
            <a:endParaRPr lang="en-US" dirty="0"/>
          </a:p>
          <a:p>
            <a:pPr marL="971550" lvl="1" indent="-51435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kill –SIGKILL &lt;PID&gt;</a:t>
            </a:r>
          </a:p>
          <a:p>
            <a:pPr marL="914400" lvl="2" indent="0">
              <a:buNone/>
            </a:pPr>
            <a:r>
              <a:rPr lang="en-US" dirty="0">
                <a:latin typeface="Consolas" panose="020B0609020204030204" pitchFamily="49" charset="0"/>
              </a:rPr>
              <a:t>OR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kill -9 &lt;PID&gt;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sz="1200" b="1" dirty="0"/>
              <a:t>Note</a:t>
            </a:r>
            <a:r>
              <a:rPr lang="en-US" sz="1200" dirty="0"/>
              <a:t>: you can kill your own process only</a:t>
            </a:r>
          </a:p>
        </p:txBody>
      </p:sp>
    </p:spTree>
    <p:extLst>
      <p:ext uri="{BB962C8B-B14F-4D97-AF65-F5344CB8AC3E}">
        <p14:creationId xmlns:p14="http://schemas.microsoft.com/office/powerpoint/2010/main" val="20820008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675F6-2948-0C94-5C91-A16D3044C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995"/>
            <a:ext cx="11139311" cy="1283055"/>
          </a:xfrm>
        </p:spPr>
        <p:txBody>
          <a:bodyPr>
            <a:normAutofit fontScale="90000"/>
          </a:bodyPr>
          <a:lstStyle/>
          <a:p>
            <a:r>
              <a:rPr lang="fr-FR" b="1" dirty="0"/>
              <a:t>Actions on </a:t>
            </a:r>
            <a:r>
              <a:rPr lang="fr-FR" b="1" dirty="0" err="1"/>
              <a:t>Processes</a:t>
            </a:r>
            <a:r>
              <a:rPr lang="fr-FR" b="1" dirty="0"/>
              <a:t> – Run Process in Background</a:t>
            </a:r>
            <a:endParaRPr lang="en-US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BD0B53B-CA2B-E944-C619-6BBEBC453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6666" y="1411111"/>
            <a:ext cx="10656711" cy="51590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852B07E9-6B6B-E375-C4C3-11DD7172CC4A}"/>
              </a:ext>
            </a:extLst>
          </p:cNvPr>
          <p:cNvSpPr txBox="1">
            <a:spLocks/>
          </p:cNvSpPr>
          <p:nvPr/>
        </p:nvSpPr>
        <p:spPr>
          <a:xfrm>
            <a:off x="999065" y="1202139"/>
            <a:ext cx="10659535" cy="29968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By default, all jobs are executed in the foreground. You can put a job in the background by suffixing </a:t>
            </a:r>
            <a:r>
              <a:rPr lang="en-US" b="1" dirty="0"/>
              <a:t>&amp;</a:t>
            </a:r>
            <a:r>
              <a:rPr lang="en-US" dirty="0"/>
              <a:t> to the command, for example: </a:t>
            </a:r>
          </a:p>
          <a:p>
            <a:endParaRPr lang="en-US" dirty="0"/>
          </a:p>
          <a:p>
            <a:pPr marL="971550" lvl="1" indent="-51435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node server.js &amp;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974CD1-E328-2D21-1197-4FDC5B13522D}"/>
              </a:ext>
            </a:extLst>
          </p:cNvPr>
          <p:cNvSpPr txBox="1"/>
          <p:nvPr/>
        </p:nvSpPr>
        <p:spPr>
          <a:xfrm>
            <a:off x="1227220" y="5245770"/>
            <a:ext cx="6725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Question</a:t>
            </a:r>
            <a:r>
              <a:rPr lang="en-US" dirty="0"/>
              <a:t>: Why you need to run a process in background?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E55BB4-24D2-0884-E2D1-05895967E7EF}"/>
              </a:ext>
            </a:extLst>
          </p:cNvPr>
          <p:cNvSpPr txBox="1"/>
          <p:nvPr/>
        </p:nvSpPr>
        <p:spPr>
          <a:xfrm>
            <a:off x="1259304" y="5819275"/>
            <a:ext cx="6725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Question</a:t>
            </a:r>
            <a:r>
              <a:rPr lang="en-US" dirty="0"/>
              <a:t>: How you kill a process running on a certain port?</a:t>
            </a:r>
          </a:p>
        </p:txBody>
      </p:sp>
    </p:spTree>
    <p:extLst>
      <p:ext uri="{BB962C8B-B14F-4D97-AF65-F5344CB8AC3E}">
        <p14:creationId xmlns:p14="http://schemas.microsoft.com/office/powerpoint/2010/main" val="4322791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675F6-2948-0C94-5C91-A16D3044C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995"/>
            <a:ext cx="11139311" cy="1283055"/>
          </a:xfrm>
        </p:spPr>
        <p:txBody>
          <a:bodyPr>
            <a:normAutofit/>
          </a:bodyPr>
          <a:lstStyle/>
          <a:p>
            <a:r>
              <a:rPr lang="fr-FR" b="1" dirty="0"/>
              <a:t>Basic </a:t>
            </a:r>
            <a:r>
              <a:rPr lang="fr-FR" b="1" dirty="0" err="1"/>
              <a:t>Commands</a:t>
            </a:r>
            <a:r>
              <a:rPr lang="fr-FR" b="1" dirty="0"/>
              <a:t> </a:t>
            </a:r>
            <a:r>
              <a:rPr lang="fr-FR" b="1" dirty="0" err="1"/>
              <a:t>you</a:t>
            </a:r>
            <a:r>
              <a:rPr lang="fr-FR" b="1" dirty="0"/>
              <a:t> </a:t>
            </a:r>
            <a:r>
              <a:rPr lang="fr-FR" b="1" dirty="0" err="1"/>
              <a:t>Should</a:t>
            </a:r>
            <a:r>
              <a:rPr lang="fr-FR" b="1" dirty="0"/>
              <a:t> Know</a:t>
            </a:r>
            <a:endParaRPr lang="en-US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BD0B53B-CA2B-E944-C619-6BBEBC453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6666" y="1411111"/>
            <a:ext cx="10656711" cy="51590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Follow the book ‘pocket </a:t>
            </a:r>
            <a:r>
              <a:rPr lang="en-US" dirty="0" err="1">
                <a:latin typeface="Consolas" panose="020B0609020204030204" pitchFamily="49" charset="0"/>
              </a:rPr>
              <a:t>linux</a:t>
            </a:r>
            <a:r>
              <a:rPr lang="en-US" dirty="0">
                <a:latin typeface="Consolas" panose="020B0609020204030204" pitchFamily="49" charset="0"/>
              </a:rPr>
              <a:t>’ uploaded on teams</a:t>
            </a:r>
          </a:p>
          <a:p>
            <a:r>
              <a:rPr lang="en-US" dirty="0">
                <a:latin typeface="Consolas" panose="020B0609020204030204" pitchFamily="49" charset="0"/>
              </a:rPr>
              <a:t>You should try all basic commands listed </a:t>
            </a:r>
            <a:r>
              <a:rPr lang="en-US" dirty="0">
                <a:latin typeface="Consolas" panose="020B0609020204030204" pitchFamily="49" charset="0"/>
                <a:hlinkClick r:id="rId2"/>
              </a:rPr>
              <a:t>here</a:t>
            </a:r>
            <a:endParaRPr lang="en-US" dirty="0">
              <a:latin typeface="Consolas" panose="020B0609020204030204" pitchFamily="49" charset="0"/>
            </a:endParaRPr>
          </a:p>
          <a:p>
            <a:pPr lvl="1"/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01498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AE1223AAFE3EB47A3BDCB7F7F8293B9" ma:contentTypeVersion="3" ma:contentTypeDescription="Create a new document." ma:contentTypeScope="" ma:versionID="3f5e514b528b0bb038fcbd9a7bee1a8f">
  <xsd:schema xmlns:xsd="http://www.w3.org/2001/XMLSchema" xmlns:xs="http://www.w3.org/2001/XMLSchema" xmlns:p="http://schemas.microsoft.com/office/2006/metadata/properties" xmlns:ns2="2953fe0f-7dff-4a68-b8f1-5774a8f8fac7" targetNamespace="http://schemas.microsoft.com/office/2006/metadata/properties" ma:root="true" ma:fieldsID="dfc43c28e8c1f1a5bc9ffc19f8659688" ns2:_="">
    <xsd:import namespace="2953fe0f-7dff-4a68-b8f1-5774a8f8fac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53fe0f-7dff-4a68-b8f1-5774a8f8fac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1A2E0EB-1270-4221-9390-187B2262E569}"/>
</file>

<file path=customXml/itemProps2.xml><?xml version="1.0" encoding="utf-8"?>
<ds:datastoreItem xmlns:ds="http://schemas.openxmlformats.org/officeDocument/2006/customXml" ds:itemID="{38565689-3289-4AEB-881E-789747682E4C}"/>
</file>

<file path=customXml/itemProps3.xml><?xml version="1.0" encoding="utf-8"?>
<ds:datastoreItem xmlns:ds="http://schemas.openxmlformats.org/officeDocument/2006/customXml" ds:itemID="{78972E72-44C8-410C-80FE-F10BFD6B8DC1}"/>
</file>

<file path=docProps/app.xml><?xml version="1.0" encoding="utf-8"?>
<Properties xmlns="http://schemas.openxmlformats.org/officeDocument/2006/extended-properties" xmlns:vt="http://schemas.openxmlformats.org/officeDocument/2006/docPropsVTypes">
  <TotalTime>25450</TotalTime>
  <Words>2039</Words>
  <Application>Microsoft Office PowerPoint</Application>
  <PresentationFormat>Widescreen</PresentationFormat>
  <Paragraphs>316</Paragraphs>
  <Slides>36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3" baseType="lpstr">
      <vt:lpstr>Arial</vt:lpstr>
      <vt:lpstr>Calibri</vt:lpstr>
      <vt:lpstr>Calibri Light</vt:lpstr>
      <vt:lpstr>Consolas</vt:lpstr>
      <vt:lpstr>Courier New</vt:lpstr>
      <vt:lpstr>Wingdings</vt:lpstr>
      <vt:lpstr>Office Theme</vt:lpstr>
      <vt:lpstr>Linux</vt:lpstr>
      <vt:lpstr>Linux Distributions</vt:lpstr>
      <vt:lpstr>Linux Distributions</vt:lpstr>
      <vt:lpstr>Questions to Ask When Choosing a Distribution</vt:lpstr>
      <vt:lpstr>Why Linux</vt:lpstr>
      <vt:lpstr>Linux File System Hierarchy Standard</vt:lpstr>
      <vt:lpstr>Linux File System Hierarchy Standard</vt:lpstr>
      <vt:lpstr>Linux Disto. Packages &amp; Managers</vt:lpstr>
      <vt:lpstr>Linux Disto. Packages &amp; Managers – Examples </vt:lpstr>
      <vt:lpstr>Command Line Interface</vt:lpstr>
      <vt:lpstr>Some Basic Utilities</vt:lpstr>
      <vt:lpstr>Command?</vt:lpstr>
      <vt:lpstr>For Kernel and OS version </vt:lpstr>
      <vt:lpstr>Sudo Command?</vt:lpstr>
      <vt:lpstr>Basic Operations  Logging in to Remote System</vt:lpstr>
      <vt:lpstr>Logging in to Remote System</vt:lpstr>
      <vt:lpstr>Basic Operations  Generating Keys</vt:lpstr>
      <vt:lpstr>Basic Operations  Locating Applications</vt:lpstr>
      <vt:lpstr>Basic Operations  Accessing Directories</vt:lpstr>
      <vt:lpstr>Basic Operations  Absolute &amp; Relative Paths</vt:lpstr>
      <vt:lpstr>Basic Operations  Exploring Filesystem</vt:lpstr>
      <vt:lpstr>Viewing Files</vt:lpstr>
      <vt:lpstr>Viewing Files – touch command</vt:lpstr>
      <vt:lpstr>Searching for Files – locate command</vt:lpstr>
      <vt:lpstr>Searching for Files – find command</vt:lpstr>
      <vt:lpstr>Searching for Files – find command</vt:lpstr>
      <vt:lpstr>find command - Commonly Used Options</vt:lpstr>
      <vt:lpstr>Searching for Files – find command – More options</vt:lpstr>
      <vt:lpstr>Linux Documentation Sources</vt:lpstr>
      <vt:lpstr>Linux Documentation – The Man Pages</vt:lpstr>
      <vt:lpstr>Linux Documentation – The GNU Info</vt:lpstr>
      <vt:lpstr>Linux Documentation – The --help Option</vt:lpstr>
      <vt:lpstr>Linux Documentation – Online Ressources</vt:lpstr>
      <vt:lpstr>Actions on Processes – Terminate a Process</vt:lpstr>
      <vt:lpstr>Actions on Processes – Run Process in Background</vt:lpstr>
      <vt:lpstr>Basic Commands you Should Know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</dc:title>
  <dc:creator>USER</dc:creator>
  <cp:lastModifiedBy>Sajid Ali Lecturer FCS</cp:lastModifiedBy>
  <cp:revision>101</cp:revision>
  <dcterms:created xsi:type="dcterms:W3CDTF">2022-08-10T06:11:03Z</dcterms:created>
  <dcterms:modified xsi:type="dcterms:W3CDTF">2025-09-21T08:41:02Z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0x010100FAE1223AAFE3EB47A3BDCB7F7F8293B9</vt:lpwstr>
  </property>
</Properties>
</file>